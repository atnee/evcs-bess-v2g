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25"/>
    <p:sldId id="275" r:id="rId26"/>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0428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esta presentación revisaremos cómo obtener la versión correcta del proyecto desde GitHub, instalarlo, ejecutarlo y localizar los resultados. La evidencia numérica se concentra en el estudio S1 de estaciones de recarga con intervalos de 15 minutos. Es importante no confundir ese estudio con la integración horaria S0–S4, que todavía está pendiente. También mostraremos el plan específico de Kenia y Cesar para mitigar los problemas de la red.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escenario S0 representa la red sin estaciones de recarga. En S1 se ubican 75 estaciones para una flota de 3.000 vehículos eléctricos, y el caso se ha estudiado cada 15 minutos. Ese será el punto de referencia para identificar mejoras. S2 suma almacenamiento BESS, S3 incorpora V2G y S4 combina ambas tecnologías. Los tres últimos escenarios aún no cuentan con resultados científicos integrados.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trabajar sobre la misma versión, primero clonamos el repositorio y entramos a la rama personal. En el ejemplo se muestra la rama de Kenia; Cesar debe usar feature/v2g-cesar y Ayrton feature/evcs-ayrton. Después descargamos las referencias remotas e integramos feature/ieee8500. No debemos confundir esa rama común con main ni asumir que toda rama personal ya está actualizada. El historial exacto se comprueba en GitHub.</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la raíz del proyecto creamos el entorno virtual y realizamos la instalación editable con dependencias de desarrollo. Luego ejecutamos las pruebas indicadas y arrancamos uno de los módulos por separado. Para BESS usamos python -m bess; para V2G, python -m v2g; y para EVCS, python -m evcs. La implementación documentada usa Python 3.12 o superior y pandapower, sin depender de OpenDSS ni de un solucionador comercial.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división del trabajo se basa en módulos independientes. Cada investigador edita sus propios archivos, notebook y configuración, y evita modificar main o forzar el historial. Los cambios en las interfaces compartidas, la red o los contratos de integración necesitan acuerdo previo. Al terminar, cada rama presenta un Pull Request con pruebas. Esto permite desarrollar BESS, V2G y estaciones de recarga de forma paralela sin romper la integración.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punto de partida para revisar el proyecto son README y ONBOARDING. La carpeta configs concentra los parámetros; src contiene los módulos y el código compartido; data contiene la red IEEE y la plantilla para Honduras. En docs están metodología y validación, y notebooks está dividido por responsable. Las salidas locales se generan en results. Además, AGENTS.md proporciona reglas de desarrollo para los asistentes de programación.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caso IEEE funciona como banco de pruebas, pero no representa una red real hondureña. El proyecto conserva 15 archivos .dss como fuente y un modelo reducido a media tensión de 2.521 barras, convertido para el análisis en pandapower. Las flotas, los horarios, los costos y las ubicaciones de equipos son supuestos de simulación. Por eso no debemos presentar cifras sintéticas como mediciones reales de la empresa distribuidora.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coordinador articula los tres módulos. EVCS determina la demanda y la infraestructura, V2G recibe información de las sesiones de carga atendidas y produce el perfil neto de los vehículos, y BESS considera la demanda agregada. Después se construye un perfil consistente antes de ejecutar el flujo trifásico. Cada módulo utiliza contratos que permiten intercambiar estrategias sin alterar su interfaz. La potencia positiva indica inyección a la red, mientras que la negativa indica consumo.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esfuerzo computacional depende del tipo de ejecución. Las comprobaciones aisladas de EVCS, BESS y V2G pueden tomar segundos; los estudios con flujo eléctrico duran más. El S0 requiere aproximadamente dos minutos en el equipo documentado, el S1 alrededor de 35 minutos y la evaluación de capacidad de alojamiento cerca de una hora y media. La integración horaria tiene un tiempo estimado, pero no equivale a resultados finales ya obtenidos. Los tiempos no están garantizados en otras computadoras.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resultados no se almacenan de forma completa en el repositorio Git. Al ejecutar las rutinas se generan las carpetas de S0, de evaluación EVCS, de S1 y de comparación S0 versus S1. La carpeta resumen presenta ocho figuras organizadas para revisión. Si el paquete de resultados está incompleto, podemos consultar las 14 figuras versionadas en docs/evcs/figures. La carpeta integration corresponde a resultados aún pendientes.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de mostrar el impacto de las estaciones, es necesario definir correctamente la red de referencia. El nombre IEEE 8500 se refiere al alimentador de origen, pero la implementación actual es una reducción a media tensión con 2.521 barras. Su carga nominal es de aproximadamente 10,8 MW. La representación utiliza aproximaciones eléctricas y ajustes específicos, que deben confrontarse con la referencia OpenDSS antes de considerarla validada de manera independiente.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distribución de estaciones fue calculada mediante un modelo MILP de cobertura, no a partir de ubicaciones levantadas en campo. Para 3.000 vehículos se asignaron 75 estaciones: cuatro hubs DC, nueve AC trifásicas y 62 AC monofásicas. La capacidad instalada suma 4.505,6 kW, pero no toda esa potencia opera simultáneamente. El estudio registra 915 sesiones diarias. Los costos de instalación son supuestos y deberán validarse antes de aplicarlos a Honduras.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slide muestra una primera consecuencia: la recarga incrementa la demanda máxima y la utilización de las líneas. El pico en subestación pasa de 11.750 kW en S0 a 13.946 kW para 3.000 vehículos en S1, un incremento del 18,7 %. La línea más exigida pasa de 96,7 % a 108,9 %, cruzando el límite de carga nominal. En el día se consumen 27,7 MWh para recarga. Estas cifras proceden del S1 a 15 minutos, no de S2 o S3.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comparación de tensión exige cuidado con los reguladores. En S0, el mínimo es 0,951 pu. Con los reguladores actuando, S1 presenta 0,933 pu, pero si se mantienen los taps de S0 fijos la tensión cae hasta 0,924 pu. Por eso conviene informar ambas condiciones: de otro modo se oculta parte del efecto de la recarga. El intervalo 0,95–1,05 pu se utiliza como referencia comparativa y no debe presentarse como normativa de Honduras.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resolución de 15 minutos permite reconocer en qué momentos surgen los problemas. Para 3.000 vehículos, 37 líneas superan el 100 % en algún intervalo del día. Sumando todos los intervalos y todas las líneas se obtienen 89,25 línea·hora de sobrecarga. Esta cifra no significa que una sola línea haya permanecido sobrecargada 89 horas, sino que representa una suma de exposiciones a lo largo de la red. Estos períodos críticos orientarán los controles BESS y V2G.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efectos no son únicamente agregados: también tienen una distribución espacial. En S1, 236 barras presentan tensión inferior a 0,95 pu en algún momento, con 137 consumidores asociados. Las pérdidas energéticas del día aumentan de 14,3 a 17,8 MWh, una variación del 24,4 %. Esto sugiere que las soluciones deben analizarse por ubicación y horario, no solo por la reducción global del pico de demanda.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batería de pruebas ayuda a confirmar la consistencia de las interfaces, la independencia de los módulos y el balance de potencia activa. Sin embargo, que una integración de prueba se ejecute no significa que ya se haya realizado el estudio científico completo de S0 a S4. Queda por verificar la equivalencia eléctrica con OpenDSS, cuantificar los errores de la aproximación y repetir experimentos con distintas semillas y datos locales.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Concluimos con el plan de integración. Primero se completa S2 a cargo de Kenia y S3 a cargo de Cesar, con interfaces y resultados verificables. Después el equipo combina BESS y V2G para ejecutar S4 y compara todos los escenarios usando una misma resolución temporal, condición de reguladores y conjunto de métricas. No podemos atribuir beneficios porcentuales a S2, S3 o S4 todavía porque la integración horaria final no se ha ejecutado. Ese es el siguiente paso de investigación.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Kenia tiene la misión de desarrollar el escenario S2, que añade un sistema de almacenamiento al S1. Debe localizar las líneas y barras críticas, seleccionar candidatos de ubicación, dimensionar potencia y energía, y definir reglas de carga, descarga y estado de carga. La configuración actual de 40 kW y 120 kWh es un ejemplo inicial, no un tamaño optimizado. El objetivo es reducir sobrecargas, mejorar tensión y disminuir pérdidas sin trasladar los problemas a otros horarios. Su entrega será un perfil BESS reproducible y la comparación S2 versus S1.</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Cesar tiene la misión de desarrollar el escenario S3 de recarga bidireccional. Su punto de partida incluye solamente tres vehículos de demostración, por lo que debe escalar la flota con supuestos claros de participación, disponibilidad, horarios de llegada y salida y puertos bidireccionales. La inyección a la red debe respetar potencia, SOC mínimo y energía de reserva para movilidad. El objetivo es descargar durante los períodos críticos sin perjudicar las necesidades de los usuarios. La entrega será un perfil agregado V2G y una comparación de S3 frente a S1.</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366760" y="1097280"/>
            <a:ext cx="2286000" cy="2286000"/>
          </a:xfrm>
          <a:prstGeom prst="ellipse">
            <a:avLst/>
          </a:prstGeom>
          <a:noFill/>
          <a:ln w="25400">
            <a:solidFill>
              <a:srgbClr val="13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332720" y="2834640"/>
            <a:ext cx="1554480" cy="1554480"/>
          </a:xfrm>
          <a:prstGeom prst="ellipse">
            <a:avLst/>
          </a:prstGeom>
          <a:noFill/>
          <a:ln w="25400">
            <a:solidFill>
              <a:srgbClr val="13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0" y="4114800"/>
            <a:ext cx="822960" cy="822960"/>
          </a:xfrm>
          <a:prstGeom prst="ellipse">
            <a:avLst/>
          </a:prstGeom>
          <a:noFill/>
          <a:ln w="25400">
            <a:solidFill>
              <a:srgbClr val="13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607040" y="5394960"/>
            <a:ext cx="822960" cy="822960"/>
          </a:xfrm>
          <a:prstGeom prst="ellipse">
            <a:avLst/>
          </a:prstGeom>
          <a:noFill/>
          <a:ln w="25400">
            <a:solidFill>
              <a:srgbClr val="13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67512" y="841248"/>
            <a:ext cx="128016" cy="393192"/>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795528"/>
            <a:ext cx="8503920" cy="466344"/>
          </a:xfrm>
          <a:prstGeom prst="rect">
            <a:avLst/>
          </a:prstGeom>
          <a:noFill/>
        </p:spPr>
        <p:txBody>
          <a:bodyPr wrap="square" lIns="0" tIns="18288" rIns="0" bIns="18288" anchor="ctr">
            <a:spAutoFit/>
          </a:bodyPr>
          <a:lstStyle/>
          <a:p>
            <a:pPr>
              <a:spcAft>
                <a:spcPts val="0"/>
              </a:spcAft>
              <a:defRPr sz="1500" b="1" i="0">
                <a:solidFill>
                  <a:srgbClr val="CCF6F0"/>
                </a:solidFill>
                <a:latin typeface="Aptos"/>
              </a:defRPr>
            </a:pPr>
            <a:r>
              <a:t>REPOSITORIO DE INVESTIGACIÓN | IEEE 8500</a:t>
            </a:r>
          </a:p>
        </p:txBody>
      </p:sp>
      <p:sp>
        <p:nvSpPr>
          <p:cNvPr id="10" name="TextBox 9"/>
          <p:cNvSpPr txBox="1"/>
          <p:nvPr/>
        </p:nvSpPr>
        <p:spPr>
          <a:xfrm>
            <a:off x="786384" y="1581912"/>
            <a:ext cx="10424160" cy="868680"/>
          </a:xfrm>
          <a:prstGeom prst="rect">
            <a:avLst/>
          </a:prstGeom>
          <a:noFill/>
        </p:spPr>
        <p:txBody>
          <a:bodyPr wrap="square" lIns="0" tIns="18288" rIns="0" bIns="18288" anchor="ctr">
            <a:spAutoFit/>
          </a:bodyPr>
          <a:lstStyle/>
          <a:p>
            <a:pPr>
              <a:spcAft>
                <a:spcPts val="0"/>
              </a:spcAft>
              <a:defRPr sz="4300" b="1" i="0">
                <a:solidFill>
                  <a:srgbClr val="FFFFFF"/>
                </a:solidFill>
                <a:latin typeface="Aptos"/>
              </a:defRPr>
            </a:pPr>
            <a:r>
              <a:t>EVCS • BESS • V2G</a:t>
            </a:r>
          </a:p>
        </p:txBody>
      </p:sp>
      <p:sp>
        <p:nvSpPr>
          <p:cNvPr id="11" name="TextBox 10"/>
          <p:cNvSpPr txBox="1"/>
          <p:nvPr/>
        </p:nvSpPr>
        <p:spPr>
          <a:xfrm>
            <a:off x="795528" y="2532888"/>
            <a:ext cx="9418320" cy="914400"/>
          </a:xfrm>
          <a:prstGeom prst="rect">
            <a:avLst/>
          </a:prstGeom>
          <a:noFill/>
        </p:spPr>
        <p:txBody>
          <a:bodyPr wrap="square" lIns="0" tIns="18288" rIns="0" bIns="18288" anchor="ctr">
            <a:spAutoFit/>
          </a:bodyPr>
          <a:lstStyle/>
          <a:p>
            <a:pPr>
              <a:spcAft>
                <a:spcPts val="0"/>
              </a:spcAft>
              <a:defRPr sz="2500" b="0" i="0">
                <a:solidFill>
                  <a:srgbClr val="CCF6F0"/>
                </a:solidFill>
                <a:latin typeface="Aptos"/>
              </a:defRPr>
            </a:pPr>
            <a:r>
              <a:t>Del código a los resultados: recarga S1 y próximos pasos para mitigar sus impactos</a:t>
            </a:r>
          </a:p>
        </p:txBody>
      </p:sp>
      <p:sp>
        <p:nvSpPr>
          <p:cNvPr id="12" name="Rounded Rectangle 11"/>
          <p:cNvSpPr/>
          <p:nvPr/>
        </p:nvSpPr>
        <p:spPr>
          <a:xfrm>
            <a:off x="832104" y="3931920"/>
            <a:ext cx="109728" cy="109728"/>
          </a:xfrm>
          <a:prstGeom prst="roundRect">
            <a:avLst>
              <a:gd name="adj" fmla="val 10000"/>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33856" y="3767328"/>
            <a:ext cx="9601200" cy="429768"/>
          </a:xfrm>
          <a:prstGeom prst="rect">
            <a:avLst/>
          </a:prstGeom>
          <a:noFill/>
        </p:spPr>
        <p:txBody>
          <a:bodyPr wrap="square" lIns="0" tIns="18288" rIns="0" bIns="18288" anchor="ctr">
            <a:spAutoFit/>
          </a:bodyPr>
          <a:lstStyle/>
          <a:p>
            <a:pPr>
              <a:spcAft>
                <a:spcPts val="0"/>
              </a:spcAft>
              <a:defRPr sz="1800" b="0" i="0">
                <a:solidFill>
                  <a:srgbClr val="FFFFFF"/>
                </a:solidFill>
                <a:latin typeface="Aptos"/>
              </a:defRPr>
            </a:pPr>
            <a:r>
              <a:t>Red trifásica desequilibrada en pandapower</a:t>
            </a:r>
          </a:p>
        </p:txBody>
      </p:sp>
      <p:sp>
        <p:nvSpPr>
          <p:cNvPr id="14" name="Rounded Rectangle 13"/>
          <p:cNvSpPr/>
          <p:nvPr/>
        </p:nvSpPr>
        <p:spPr>
          <a:xfrm>
            <a:off x="832104" y="4434840"/>
            <a:ext cx="109728" cy="109728"/>
          </a:xfrm>
          <a:prstGeom prst="roundRect">
            <a:avLst>
              <a:gd name="adj" fmla="val 10000"/>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33856" y="4270248"/>
            <a:ext cx="9601200" cy="429768"/>
          </a:xfrm>
          <a:prstGeom prst="rect">
            <a:avLst/>
          </a:prstGeom>
          <a:noFill/>
        </p:spPr>
        <p:txBody>
          <a:bodyPr wrap="square" lIns="0" tIns="18288" rIns="0" bIns="18288" anchor="ctr">
            <a:spAutoFit/>
          </a:bodyPr>
          <a:lstStyle/>
          <a:p>
            <a:pPr>
              <a:spcAft>
                <a:spcPts val="0"/>
              </a:spcAft>
              <a:defRPr sz="1800" b="0" i="0">
                <a:solidFill>
                  <a:srgbClr val="FFFFFF"/>
                </a:solidFill>
                <a:latin typeface="Aptos"/>
              </a:defRPr>
            </a:pPr>
            <a:r>
              <a:t>S1: resultados del estudio con intervalos de 15 min</a:t>
            </a:r>
          </a:p>
        </p:txBody>
      </p:sp>
      <p:sp>
        <p:nvSpPr>
          <p:cNvPr id="16" name="Rounded Rectangle 15"/>
          <p:cNvSpPr/>
          <p:nvPr/>
        </p:nvSpPr>
        <p:spPr>
          <a:xfrm>
            <a:off x="832104" y="4937760"/>
            <a:ext cx="109728" cy="109728"/>
          </a:xfrm>
          <a:prstGeom prst="roundRect">
            <a:avLst>
              <a:gd name="adj" fmla="val 10000"/>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33856" y="4773168"/>
            <a:ext cx="9601200" cy="429768"/>
          </a:xfrm>
          <a:prstGeom prst="rect">
            <a:avLst/>
          </a:prstGeom>
          <a:noFill/>
        </p:spPr>
        <p:txBody>
          <a:bodyPr wrap="square" lIns="0" tIns="18288" rIns="0" bIns="18288" anchor="ctr">
            <a:spAutoFit/>
          </a:bodyPr>
          <a:lstStyle/>
          <a:p>
            <a:pPr>
              <a:spcAft>
                <a:spcPts val="0"/>
              </a:spcAft>
              <a:defRPr sz="1800" b="0" i="0">
                <a:solidFill>
                  <a:srgbClr val="FFFFFF"/>
                </a:solidFill>
                <a:latin typeface="Aptos"/>
              </a:defRPr>
            </a:pPr>
            <a:r>
              <a:t>S2 / S3 / S4: integración de la investigación todavía pendiente</a:t>
            </a:r>
          </a:p>
        </p:txBody>
      </p:sp>
      <p:sp>
        <p:nvSpPr>
          <p:cNvPr id="18" name="TextBox 17"/>
          <p:cNvSpPr txBox="1"/>
          <p:nvPr/>
        </p:nvSpPr>
        <p:spPr>
          <a:xfrm>
            <a:off x="832104" y="6089904"/>
            <a:ext cx="10058400" cy="310896"/>
          </a:xfrm>
          <a:prstGeom prst="rect">
            <a:avLst/>
          </a:prstGeom>
          <a:noFill/>
        </p:spPr>
        <p:txBody>
          <a:bodyPr wrap="square" lIns="0" tIns="18288" rIns="0" bIns="18288" anchor="ctr">
            <a:spAutoFit/>
          </a:bodyPr>
          <a:lstStyle/>
          <a:p>
            <a:pPr>
              <a:spcAft>
                <a:spcPts val="0"/>
              </a:spcAft>
              <a:defRPr sz="1400" b="0" i="0">
                <a:solidFill>
                  <a:srgbClr val="899BAE"/>
                </a:solidFill>
                <a:latin typeface="Aptos"/>
              </a:defRPr>
            </a:pPr>
            <a:r>
              <a:t>EQUIPO  Ayrton (EVCS) · Kenia (BESS) · Cesar (V2G)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Problema y escenarios de investigación</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02</a:t>
            </a:r>
          </a:p>
        </p:txBody>
      </p:sp>
      <p:sp>
        <p:nvSpPr>
          <p:cNvPr id="11" name="Rounded Rectangle 10"/>
          <p:cNvSpPr/>
          <p:nvPr/>
        </p:nvSpPr>
        <p:spPr>
          <a:xfrm>
            <a:off x="658368" y="1627632"/>
            <a:ext cx="10808208" cy="429768"/>
          </a:xfrm>
          <a:prstGeom prst="roundRect">
            <a:avLst>
              <a:gd name="adj" fmla="val 10000"/>
            </a:avLst>
          </a:prstGeom>
          <a:solidFill>
            <a:srgbClr val="13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1673352"/>
            <a:ext cx="731520" cy="301752"/>
          </a:xfrm>
          <a:prstGeom prst="rect">
            <a:avLst/>
          </a:prstGeom>
          <a:noFill/>
        </p:spPr>
        <p:txBody>
          <a:bodyPr wrap="square" lIns="0" tIns="18288" rIns="0" bIns="18288" anchor="ctr">
            <a:spAutoFit/>
          </a:bodyPr>
          <a:lstStyle/>
          <a:p>
            <a:pPr>
              <a:spcAft>
                <a:spcPts val="0"/>
              </a:spcAft>
              <a:defRPr sz="1400" b="1" i="0">
                <a:solidFill>
                  <a:srgbClr val="FFFFFF"/>
                </a:solidFill>
                <a:latin typeface="Aptos"/>
              </a:defRPr>
            </a:pPr>
            <a:r>
              <a:t>ESCENARIO</a:t>
            </a:r>
          </a:p>
        </p:txBody>
      </p:sp>
      <p:sp>
        <p:nvSpPr>
          <p:cNvPr id="13" name="TextBox 12"/>
          <p:cNvSpPr txBox="1"/>
          <p:nvPr/>
        </p:nvSpPr>
        <p:spPr>
          <a:xfrm>
            <a:off x="1591056" y="1673352"/>
            <a:ext cx="4846320" cy="301752"/>
          </a:xfrm>
          <a:prstGeom prst="rect">
            <a:avLst/>
          </a:prstGeom>
          <a:noFill/>
        </p:spPr>
        <p:txBody>
          <a:bodyPr wrap="square" lIns="0" tIns="18288" rIns="0" bIns="18288" anchor="ctr">
            <a:spAutoFit/>
          </a:bodyPr>
          <a:lstStyle/>
          <a:p>
            <a:pPr>
              <a:spcAft>
                <a:spcPts val="0"/>
              </a:spcAft>
              <a:defRPr sz="1400" b="1" i="0">
                <a:solidFill>
                  <a:srgbClr val="FFFFFF"/>
                </a:solidFill>
                <a:latin typeface="Aptos"/>
              </a:defRPr>
            </a:pPr>
            <a:r>
              <a:t>DESCRIPCIÓN</a:t>
            </a:r>
          </a:p>
        </p:txBody>
      </p:sp>
      <p:sp>
        <p:nvSpPr>
          <p:cNvPr id="14" name="TextBox 13"/>
          <p:cNvSpPr txBox="1"/>
          <p:nvPr/>
        </p:nvSpPr>
        <p:spPr>
          <a:xfrm>
            <a:off x="6601968" y="1673352"/>
            <a:ext cx="2249424" cy="301752"/>
          </a:xfrm>
          <a:prstGeom prst="rect">
            <a:avLst/>
          </a:prstGeom>
          <a:noFill/>
        </p:spPr>
        <p:txBody>
          <a:bodyPr wrap="square" lIns="0" tIns="18288" rIns="0" bIns="18288" anchor="ctr">
            <a:spAutoFit/>
          </a:bodyPr>
          <a:lstStyle/>
          <a:p>
            <a:pPr>
              <a:spcAft>
                <a:spcPts val="0"/>
              </a:spcAft>
              <a:defRPr sz="1400" b="1" i="0">
                <a:solidFill>
                  <a:srgbClr val="FFFFFF"/>
                </a:solidFill>
                <a:latin typeface="Aptos"/>
              </a:defRPr>
            </a:pPr>
            <a:r>
              <a:t>RESPONSABLE</a:t>
            </a:r>
          </a:p>
        </p:txBody>
      </p:sp>
      <p:sp>
        <p:nvSpPr>
          <p:cNvPr id="15" name="TextBox 14"/>
          <p:cNvSpPr txBox="1"/>
          <p:nvPr/>
        </p:nvSpPr>
        <p:spPr>
          <a:xfrm>
            <a:off x="9025128" y="1673352"/>
            <a:ext cx="2221991" cy="301752"/>
          </a:xfrm>
          <a:prstGeom prst="rect">
            <a:avLst/>
          </a:prstGeom>
          <a:noFill/>
        </p:spPr>
        <p:txBody>
          <a:bodyPr wrap="square" lIns="0" tIns="18288" rIns="0" bIns="18288" anchor="ctr">
            <a:spAutoFit/>
          </a:bodyPr>
          <a:lstStyle/>
          <a:p>
            <a:pPr>
              <a:spcAft>
                <a:spcPts val="0"/>
              </a:spcAft>
              <a:defRPr sz="1400" b="1" i="0">
                <a:solidFill>
                  <a:srgbClr val="FFFFFF"/>
                </a:solidFill>
                <a:latin typeface="Aptos"/>
              </a:defRPr>
            </a:pPr>
            <a:r>
              <a:t>ESTADO</a:t>
            </a:r>
          </a:p>
        </p:txBody>
      </p:sp>
      <p:sp>
        <p:nvSpPr>
          <p:cNvPr id="16" name="Rounded Rectangle 15"/>
          <p:cNvSpPr/>
          <p:nvPr/>
        </p:nvSpPr>
        <p:spPr>
          <a:xfrm>
            <a:off x="658368" y="2148840"/>
            <a:ext cx="10808208" cy="50292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2231136"/>
            <a:ext cx="731520" cy="320040"/>
          </a:xfrm>
          <a:prstGeom prst="rect">
            <a:avLst/>
          </a:prstGeom>
          <a:noFill/>
        </p:spPr>
        <p:txBody>
          <a:bodyPr wrap="square" lIns="0" tIns="18288" rIns="0" bIns="18288" anchor="ctr">
            <a:spAutoFit/>
          </a:bodyPr>
          <a:lstStyle/>
          <a:p>
            <a:pPr>
              <a:spcAft>
                <a:spcPts val="0"/>
              </a:spcAft>
              <a:defRPr sz="1700" b="1" i="0">
                <a:solidFill>
                  <a:srgbClr val="0A1428"/>
                </a:solidFill>
                <a:latin typeface="Aptos"/>
              </a:defRPr>
            </a:pPr>
            <a:r>
              <a:t>S0</a:t>
            </a:r>
          </a:p>
        </p:txBody>
      </p:sp>
      <p:sp>
        <p:nvSpPr>
          <p:cNvPr id="18" name="TextBox 17"/>
          <p:cNvSpPr txBox="1"/>
          <p:nvPr/>
        </p:nvSpPr>
        <p:spPr>
          <a:xfrm>
            <a:off x="1591056" y="2231136"/>
            <a:ext cx="4846320" cy="320040"/>
          </a:xfrm>
          <a:prstGeom prst="rect">
            <a:avLst/>
          </a:prstGeom>
          <a:noFill/>
        </p:spPr>
        <p:txBody>
          <a:bodyPr wrap="square" lIns="0" tIns="18288" rIns="0" bIns="18288" anchor="ctr">
            <a:spAutoFit/>
          </a:bodyPr>
          <a:lstStyle/>
          <a:p>
            <a:pPr>
              <a:spcAft>
                <a:spcPts val="0"/>
              </a:spcAft>
              <a:defRPr sz="1800" b="0" i="0">
                <a:solidFill>
                  <a:srgbClr val="182538"/>
                </a:solidFill>
                <a:latin typeface="Aptos"/>
              </a:defRPr>
            </a:pPr>
            <a:r>
              <a:t>Caso base: sin estaciones</a:t>
            </a:r>
          </a:p>
        </p:txBody>
      </p:sp>
      <p:sp>
        <p:nvSpPr>
          <p:cNvPr id="19" name="TextBox 18"/>
          <p:cNvSpPr txBox="1"/>
          <p:nvPr/>
        </p:nvSpPr>
        <p:spPr>
          <a:xfrm>
            <a:off x="6601968" y="2241884"/>
            <a:ext cx="2249424" cy="298543"/>
          </a:xfrm>
          <a:prstGeom prst="rect">
            <a:avLst/>
          </a:prstGeom>
          <a:noFill/>
        </p:spPr>
        <p:txBody>
          <a:bodyPr wrap="square" lIns="0" tIns="18288" rIns="0" bIns="18288" anchor="ctr">
            <a:spAutoFit/>
          </a:bodyPr>
          <a:lstStyle/>
          <a:p>
            <a:pPr>
              <a:spcAft>
                <a:spcPts val="0"/>
              </a:spcAft>
              <a:defRPr sz="1700" b="0" i="0">
                <a:solidFill>
                  <a:srgbClr val="182538"/>
                </a:solidFill>
                <a:latin typeface="Aptos"/>
              </a:defRPr>
            </a:pPr>
            <a:r>
              <a:rPr lang="pt-BR" dirty="0"/>
              <a:t>Ayrton</a:t>
            </a:r>
            <a:endParaRPr dirty="0"/>
          </a:p>
        </p:txBody>
      </p:sp>
      <p:sp>
        <p:nvSpPr>
          <p:cNvPr id="20" name="TextBox 19"/>
          <p:cNvSpPr txBox="1"/>
          <p:nvPr/>
        </p:nvSpPr>
        <p:spPr>
          <a:xfrm>
            <a:off x="9025128" y="2231136"/>
            <a:ext cx="2221991" cy="320040"/>
          </a:xfrm>
          <a:prstGeom prst="rect">
            <a:avLst/>
          </a:prstGeom>
          <a:noFill/>
        </p:spPr>
        <p:txBody>
          <a:bodyPr wrap="square" lIns="0" tIns="18288" rIns="0" bIns="18288" anchor="ctr">
            <a:spAutoFit/>
          </a:bodyPr>
          <a:lstStyle/>
          <a:p>
            <a:pPr>
              <a:spcAft>
                <a:spcPts val="0"/>
              </a:spcAft>
              <a:defRPr sz="1700" b="1" i="0">
                <a:solidFill>
                  <a:srgbClr val="00A89B"/>
                </a:solidFill>
                <a:latin typeface="Aptos"/>
              </a:defRPr>
            </a:pPr>
            <a:r>
              <a:t>LISTO</a:t>
            </a:r>
          </a:p>
        </p:txBody>
      </p:sp>
      <p:sp>
        <p:nvSpPr>
          <p:cNvPr id="21" name="Rounded Rectangle 20"/>
          <p:cNvSpPr/>
          <p:nvPr/>
        </p:nvSpPr>
        <p:spPr>
          <a:xfrm>
            <a:off x="658368" y="2697480"/>
            <a:ext cx="10808208" cy="502920"/>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 y="2779776"/>
            <a:ext cx="731520" cy="320040"/>
          </a:xfrm>
          <a:prstGeom prst="rect">
            <a:avLst/>
          </a:prstGeom>
          <a:noFill/>
        </p:spPr>
        <p:txBody>
          <a:bodyPr wrap="square" lIns="0" tIns="18288" rIns="0" bIns="18288" anchor="ctr">
            <a:spAutoFit/>
          </a:bodyPr>
          <a:lstStyle/>
          <a:p>
            <a:pPr>
              <a:spcAft>
                <a:spcPts val="0"/>
              </a:spcAft>
              <a:defRPr sz="1700" b="1" i="0">
                <a:solidFill>
                  <a:srgbClr val="0A1428"/>
                </a:solidFill>
                <a:latin typeface="Aptos"/>
              </a:defRPr>
            </a:pPr>
            <a:r>
              <a:t>S1</a:t>
            </a:r>
          </a:p>
        </p:txBody>
      </p:sp>
      <p:sp>
        <p:nvSpPr>
          <p:cNvPr id="23" name="TextBox 22"/>
          <p:cNvSpPr txBox="1"/>
          <p:nvPr/>
        </p:nvSpPr>
        <p:spPr>
          <a:xfrm>
            <a:off x="1591056" y="2779776"/>
            <a:ext cx="4846320" cy="320040"/>
          </a:xfrm>
          <a:prstGeom prst="rect">
            <a:avLst/>
          </a:prstGeom>
          <a:noFill/>
        </p:spPr>
        <p:txBody>
          <a:bodyPr wrap="square" lIns="0" tIns="18288" rIns="0" bIns="18288" anchor="ctr">
            <a:spAutoFit/>
          </a:bodyPr>
          <a:lstStyle/>
          <a:p>
            <a:pPr>
              <a:spcAft>
                <a:spcPts val="0"/>
              </a:spcAft>
              <a:defRPr sz="1800" b="0" i="0">
                <a:solidFill>
                  <a:srgbClr val="182538"/>
                </a:solidFill>
                <a:latin typeface="Aptos"/>
              </a:defRPr>
            </a:pPr>
            <a:r>
              <a:t>Flota de 3.000 VE; 75 estaciones</a:t>
            </a:r>
          </a:p>
        </p:txBody>
      </p:sp>
      <p:sp>
        <p:nvSpPr>
          <p:cNvPr id="24" name="TextBox 23"/>
          <p:cNvSpPr txBox="1"/>
          <p:nvPr/>
        </p:nvSpPr>
        <p:spPr>
          <a:xfrm>
            <a:off x="6601968" y="2779776"/>
            <a:ext cx="2249424" cy="320040"/>
          </a:xfrm>
          <a:prstGeom prst="rect">
            <a:avLst/>
          </a:prstGeom>
          <a:noFill/>
        </p:spPr>
        <p:txBody>
          <a:bodyPr wrap="square" lIns="0" tIns="18288" rIns="0" bIns="18288" anchor="ctr">
            <a:spAutoFit/>
          </a:bodyPr>
          <a:lstStyle/>
          <a:p>
            <a:pPr>
              <a:spcAft>
                <a:spcPts val="0"/>
              </a:spcAft>
              <a:defRPr sz="1700" b="0" i="0">
                <a:solidFill>
                  <a:srgbClr val="182538"/>
                </a:solidFill>
                <a:latin typeface="Aptos"/>
              </a:defRPr>
            </a:pPr>
            <a:r>
              <a:t>Ayrton</a:t>
            </a:r>
          </a:p>
        </p:txBody>
      </p:sp>
      <p:sp>
        <p:nvSpPr>
          <p:cNvPr id="25" name="TextBox 24"/>
          <p:cNvSpPr txBox="1"/>
          <p:nvPr/>
        </p:nvSpPr>
        <p:spPr>
          <a:xfrm>
            <a:off x="9025128" y="2779776"/>
            <a:ext cx="2221991" cy="320040"/>
          </a:xfrm>
          <a:prstGeom prst="rect">
            <a:avLst/>
          </a:prstGeom>
          <a:noFill/>
        </p:spPr>
        <p:txBody>
          <a:bodyPr wrap="square" lIns="0" tIns="18288" rIns="0" bIns="18288" anchor="ctr">
            <a:spAutoFit/>
          </a:bodyPr>
          <a:lstStyle/>
          <a:p>
            <a:pPr>
              <a:spcAft>
                <a:spcPts val="0"/>
              </a:spcAft>
              <a:defRPr sz="1700" b="1" i="0">
                <a:solidFill>
                  <a:srgbClr val="00A89B"/>
                </a:solidFill>
                <a:latin typeface="Aptos"/>
              </a:defRPr>
            </a:pPr>
            <a:r>
              <a:t>LISTO¹</a:t>
            </a:r>
          </a:p>
        </p:txBody>
      </p:sp>
      <p:sp>
        <p:nvSpPr>
          <p:cNvPr id="26" name="Rounded Rectangle 25"/>
          <p:cNvSpPr/>
          <p:nvPr/>
        </p:nvSpPr>
        <p:spPr>
          <a:xfrm>
            <a:off x="658368" y="3246120"/>
            <a:ext cx="10808208" cy="50292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8952" y="3328415"/>
            <a:ext cx="731520" cy="320040"/>
          </a:xfrm>
          <a:prstGeom prst="rect">
            <a:avLst/>
          </a:prstGeom>
          <a:noFill/>
        </p:spPr>
        <p:txBody>
          <a:bodyPr wrap="square" lIns="0" tIns="18288" rIns="0" bIns="18288" anchor="ctr">
            <a:spAutoFit/>
          </a:bodyPr>
          <a:lstStyle/>
          <a:p>
            <a:pPr>
              <a:spcAft>
                <a:spcPts val="0"/>
              </a:spcAft>
              <a:defRPr sz="1700" b="1" i="0">
                <a:solidFill>
                  <a:srgbClr val="0A1428"/>
                </a:solidFill>
                <a:latin typeface="Aptos"/>
              </a:defRPr>
            </a:pPr>
            <a:r>
              <a:t>S2</a:t>
            </a:r>
          </a:p>
        </p:txBody>
      </p:sp>
      <p:sp>
        <p:nvSpPr>
          <p:cNvPr id="28" name="TextBox 27"/>
          <p:cNvSpPr txBox="1"/>
          <p:nvPr/>
        </p:nvSpPr>
        <p:spPr>
          <a:xfrm>
            <a:off x="1591056" y="3328415"/>
            <a:ext cx="4846320" cy="320040"/>
          </a:xfrm>
          <a:prstGeom prst="rect">
            <a:avLst/>
          </a:prstGeom>
          <a:noFill/>
        </p:spPr>
        <p:txBody>
          <a:bodyPr wrap="square" lIns="0" tIns="18288" rIns="0" bIns="18288" anchor="ctr">
            <a:spAutoFit/>
          </a:bodyPr>
          <a:lstStyle/>
          <a:p>
            <a:pPr>
              <a:spcAft>
                <a:spcPts val="0"/>
              </a:spcAft>
              <a:defRPr sz="1800" b="0" i="0">
                <a:solidFill>
                  <a:srgbClr val="182538"/>
                </a:solidFill>
                <a:latin typeface="Aptos"/>
              </a:defRPr>
            </a:pPr>
            <a:r>
              <a:t>S1 + BESS</a:t>
            </a:r>
          </a:p>
        </p:txBody>
      </p:sp>
      <p:sp>
        <p:nvSpPr>
          <p:cNvPr id="29" name="TextBox 28"/>
          <p:cNvSpPr txBox="1"/>
          <p:nvPr/>
        </p:nvSpPr>
        <p:spPr>
          <a:xfrm>
            <a:off x="6601968" y="3328415"/>
            <a:ext cx="2249424" cy="320040"/>
          </a:xfrm>
          <a:prstGeom prst="rect">
            <a:avLst/>
          </a:prstGeom>
          <a:noFill/>
        </p:spPr>
        <p:txBody>
          <a:bodyPr wrap="square" lIns="0" tIns="18288" rIns="0" bIns="18288" anchor="ctr">
            <a:spAutoFit/>
          </a:bodyPr>
          <a:lstStyle/>
          <a:p>
            <a:pPr>
              <a:spcAft>
                <a:spcPts val="0"/>
              </a:spcAft>
              <a:defRPr sz="1700" b="0" i="0">
                <a:solidFill>
                  <a:srgbClr val="182538"/>
                </a:solidFill>
                <a:latin typeface="Aptos"/>
              </a:defRPr>
            </a:pPr>
            <a:r>
              <a:t>Kenia</a:t>
            </a:r>
          </a:p>
        </p:txBody>
      </p:sp>
      <p:sp>
        <p:nvSpPr>
          <p:cNvPr id="30" name="TextBox 29"/>
          <p:cNvSpPr txBox="1"/>
          <p:nvPr/>
        </p:nvSpPr>
        <p:spPr>
          <a:xfrm>
            <a:off x="9025128" y="3328415"/>
            <a:ext cx="2221991" cy="320040"/>
          </a:xfrm>
          <a:prstGeom prst="rect">
            <a:avLst/>
          </a:prstGeom>
          <a:noFill/>
        </p:spPr>
        <p:txBody>
          <a:bodyPr wrap="square" lIns="0" tIns="18288" rIns="0" bIns="18288" anchor="ctr">
            <a:spAutoFit/>
          </a:bodyPr>
          <a:lstStyle/>
          <a:p>
            <a:pPr>
              <a:spcAft>
                <a:spcPts val="0"/>
              </a:spcAft>
              <a:defRPr sz="1700" b="1" i="0">
                <a:solidFill>
                  <a:srgbClr val="D96B3D"/>
                </a:solidFill>
                <a:latin typeface="Aptos"/>
              </a:defRPr>
            </a:pPr>
            <a:r>
              <a:t>PENDIENTE</a:t>
            </a:r>
          </a:p>
        </p:txBody>
      </p:sp>
      <p:sp>
        <p:nvSpPr>
          <p:cNvPr id="31" name="Rounded Rectangle 30"/>
          <p:cNvSpPr/>
          <p:nvPr/>
        </p:nvSpPr>
        <p:spPr>
          <a:xfrm>
            <a:off x="658368" y="3794760"/>
            <a:ext cx="10808208" cy="502920"/>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2" y="3877056"/>
            <a:ext cx="731520" cy="320040"/>
          </a:xfrm>
          <a:prstGeom prst="rect">
            <a:avLst/>
          </a:prstGeom>
          <a:noFill/>
        </p:spPr>
        <p:txBody>
          <a:bodyPr wrap="square" lIns="0" tIns="18288" rIns="0" bIns="18288" anchor="ctr">
            <a:spAutoFit/>
          </a:bodyPr>
          <a:lstStyle/>
          <a:p>
            <a:pPr>
              <a:spcAft>
                <a:spcPts val="0"/>
              </a:spcAft>
              <a:defRPr sz="1700" b="1" i="0">
                <a:solidFill>
                  <a:srgbClr val="0A1428"/>
                </a:solidFill>
                <a:latin typeface="Aptos"/>
              </a:defRPr>
            </a:pPr>
            <a:r>
              <a:t>S3</a:t>
            </a:r>
          </a:p>
        </p:txBody>
      </p:sp>
      <p:sp>
        <p:nvSpPr>
          <p:cNvPr id="33" name="TextBox 32"/>
          <p:cNvSpPr txBox="1"/>
          <p:nvPr/>
        </p:nvSpPr>
        <p:spPr>
          <a:xfrm>
            <a:off x="1591056" y="3877056"/>
            <a:ext cx="4846320" cy="320040"/>
          </a:xfrm>
          <a:prstGeom prst="rect">
            <a:avLst/>
          </a:prstGeom>
          <a:noFill/>
        </p:spPr>
        <p:txBody>
          <a:bodyPr wrap="square" lIns="0" tIns="18288" rIns="0" bIns="18288" anchor="ctr">
            <a:spAutoFit/>
          </a:bodyPr>
          <a:lstStyle/>
          <a:p>
            <a:pPr>
              <a:spcAft>
                <a:spcPts val="0"/>
              </a:spcAft>
              <a:defRPr sz="1800" b="0" i="0">
                <a:solidFill>
                  <a:srgbClr val="182538"/>
                </a:solidFill>
                <a:latin typeface="Aptos"/>
              </a:defRPr>
            </a:pPr>
            <a:r>
              <a:t>S1 + V2G</a:t>
            </a:r>
          </a:p>
        </p:txBody>
      </p:sp>
      <p:sp>
        <p:nvSpPr>
          <p:cNvPr id="34" name="TextBox 33"/>
          <p:cNvSpPr txBox="1"/>
          <p:nvPr/>
        </p:nvSpPr>
        <p:spPr>
          <a:xfrm>
            <a:off x="6601968" y="3877056"/>
            <a:ext cx="2249424" cy="320040"/>
          </a:xfrm>
          <a:prstGeom prst="rect">
            <a:avLst/>
          </a:prstGeom>
          <a:noFill/>
        </p:spPr>
        <p:txBody>
          <a:bodyPr wrap="square" lIns="0" tIns="18288" rIns="0" bIns="18288" anchor="ctr">
            <a:spAutoFit/>
          </a:bodyPr>
          <a:lstStyle/>
          <a:p>
            <a:pPr>
              <a:spcAft>
                <a:spcPts val="0"/>
              </a:spcAft>
              <a:defRPr sz="1700" b="0" i="0">
                <a:solidFill>
                  <a:srgbClr val="182538"/>
                </a:solidFill>
                <a:latin typeface="Aptos"/>
              </a:defRPr>
            </a:pPr>
            <a:r>
              <a:t>Cesar</a:t>
            </a:r>
          </a:p>
        </p:txBody>
      </p:sp>
      <p:sp>
        <p:nvSpPr>
          <p:cNvPr id="35" name="TextBox 34"/>
          <p:cNvSpPr txBox="1"/>
          <p:nvPr/>
        </p:nvSpPr>
        <p:spPr>
          <a:xfrm>
            <a:off x="9025128" y="3877056"/>
            <a:ext cx="2221991" cy="320040"/>
          </a:xfrm>
          <a:prstGeom prst="rect">
            <a:avLst/>
          </a:prstGeom>
          <a:noFill/>
        </p:spPr>
        <p:txBody>
          <a:bodyPr wrap="square" lIns="0" tIns="18288" rIns="0" bIns="18288" anchor="ctr">
            <a:spAutoFit/>
          </a:bodyPr>
          <a:lstStyle/>
          <a:p>
            <a:pPr>
              <a:spcAft>
                <a:spcPts val="0"/>
              </a:spcAft>
              <a:defRPr sz="1700" b="1" i="0">
                <a:solidFill>
                  <a:srgbClr val="D96B3D"/>
                </a:solidFill>
                <a:latin typeface="Aptos"/>
              </a:defRPr>
            </a:pPr>
            <a:r>
              <a:t>PENDIENTE</a:t>
            </a:r>
          </a:p>
        </p:txBody>
      </p:sp>
      <p:sp>
        <p:nvSpPr>
          <p:cNvPr id="36" name="Rounded Rectangle 35"/>
          <p:cNvSpPr/>
          <p:nvPr/>
        </p:nvSpPr>
        <p:spPr>
          <a:xfrm>
            <a:off x="658368" y="4343400"/>
            <a:ext cx="10808208" cy="50292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8952" y="4425696"/>
            <a:ext cx="731520" cy="320040"/>
          </a:xfrm>
          <a:prstGeom prst="rect">
            <a:avLst/>
          </a:prstGeom>
          <a:noFill/>
        </p:spPr>
        <p:txBody>
          <a:bodyPr wrap="square" lIns="0" tIns="18288" rIns="0" bIns="18288" anchor="ctr">
            <a:spAutoFit/>
          </a:bodyPr>
          <a:lstStyle/>
          <a:p>
            <a:pPr>
              <a:spcAft>
                <a:spcPts val="0"/>
              </a:spcAft>
              <a:defRPr sz="1700" b="1" i="0">
                <a:solidFill>
                  <a:srgbClr val="0A1428"/>
                </a:solidFill>
                <a:latin typeface="Aptos"/>
              </a:defRPr>
            </a:pPr>
            <a:r>
              <a:t>S4</a:t>
            </a:r>
          </a:p>
        </p:txBody>
      </p:sp>
      <p:sp>
        <p:nvSpPr>
          <p:cNvPr id="38" name="TextBox 37"/>
          <p:cNvSpPr txBox="1"/>
          <p:nvPr/>
        </p:nvSpPr>
        <p:spPr>
          <a:xfrm>
            <a:off x="1591056" y="4425696"/>
            <a:ext cx="4846320" cy="320040"/>
          </a:xfrm>
          <a:prstGeom prst="rect">
            <a:avLst/>
          </a:prstGeom>
          <a:noFill/>
        </p:spPr>
        <p:txBody>
          <a:bodyPr wrap="square" lIns="0" tIns="18288" rIns="0" bIns="18288" anchor="ctr">
            <a:spAutoFit/>
          </a:bodyPr>
          <a:lstStyle/>
          <a:p>
            <a:pPr>
              <a:spcAft>
                <a:spcPts val="0"/>
              </a:spcAft>
              <a:defRPr sz="1800" b="0" i="0">
                <a:solidFill>
                  <a:srgbClr val="182538"/>
                </a:solidFill>
                <a:latin typeface="Aptos"/>
              </a:defRPr>
            </a:pPr>
            <a:r>
              <a:t>S1 + BESS + V2G</a:t>
            </a:r>
          </a:p>
        </p:txBody>
      </p:sp>
      <p:sp>
        <p:nvSpPr>
          <p:cNvPr id="39" name="TextBox 38"/>
          <p:cNvSpPr txBox="1"/>
          <p:nvPr/>
        </p:nvSpPr>
        <p:spPr>
          <a:xfrm>
            <a:off x="6601968" y="4425696"/>
            <a:ext cx="2249424" cy="320040"/>
          </a:xfrm>
          <a:prstGeom prst="rect">
            <a:avLst/>
          </a:prstGeom>
          <a:noFill/>
        </p:spPr>
        <p:txBody>
          <a:bodyPr wrap="square" lIns="0" tIns="18288" rIns="0" bIns="18288" anchor="ctr">
            <a:spAutoFit/>
          </a:bodyPr>
          <a:lstStyle/>
          <a:p>
            <a:pPr>
              <a:spcAft>
                <a:spcPts val="0"/>
              </a:spcAft>
              <a:defRPr sz="1700" b="0" i="0">
                <a:solidFill>
                  <a:srgbClr val="182538"/>
                </a:solidFill>
                <a:latin typeface="Aptos"/>
              </a:defRPr>
            </a:pPr>
            <a:r>
              <a:t>Equipo</a:t>
            </a:r>
          </a:p>
        </p:txBody>
      </p:sp>
      <p:sp>
        <p:nvSpPr>
          <p:cNvPr id="40" name="TextBox 39"/>
          <p:cNvSpPr txBox="1"/>
          <p:nvPr/>
        </p:nvSpPr>
        <p:spPr>
          <a:xfrm>
            <a:off x="9025128" y="4425696"/>
            <a:ext cx="2221991" cy="320040"/>
          </a:xfrm>
          <a:prstGeom prst="rect">
            <a:avLst/>
          </a:prstGeom>
          <a:noFill/>
        </p:spPr>
        <p:txBody>
          <a:bodyPr wrap="square" lIns="0" tIns="18288" rIns="0" bIns="18288" anchor="ctr">
            <a:spAutoFit/>
          </a:bodyPr>
          <a:lstStyle/>
          <a:p>
            <a:pPr>
              <a:spcAft>
                <a:spcPts val="0"/>
              </a:spcAft>
              <a:defRPr sz="1700" b="1" i="0">
                <a:solidFill>
                  <a:srgbClr val="D96B3D"/>
                </a:solidFill>
                <a:latin typeface="Aptos"/>
              </a:defRPr>
            </a:pPr>
            <a:r>
              <a:t>PENDIENTE</a:t>
            </a:r>
          </a:p>
        </p:txBody>
      </p:sp>
      <p:sp>
        <p:nvSpPr>
          <p:cNvPr id="41" name="TextBox 40"/>
          <p:cNvSpPr txBox="1"/>
          <p:nvPr/>
        </p:nvSpPr>
        <p:spPr>
          <a:xfrm>
            <a:off x="749808" y="5064481"/>
            <a:ext cx="10469880" cy="267766"/>
          </a:xfrm>
          <a:prstGeom prst="rect">
            <a:avLst/>
          </a:prstGeom>
          <a:noFill/>
        </p:spPr>
        <p:txBody>
          <a:bodyPr wrap="square" lIns="0" tIns="18288" rIns="0" bIns="18288" anchor="ctr">
            <a:spAutoFit/>
          </a:bodyPr>
          <a:lstStyle/>
          <a:p>
            <a:pPr>
              <a:spcAft>
                <a:spcPts val="0"/>
              </a:spcAft>
              <a:defRPr sz="1500" b="1" i="0">
                <a:solidFill>
                  <a:srgbClr val="D96B3D"/>
                </a:solidFill>
                <a:latin typeface="Aptos"/>
              </a:defRPr>
            </a:pPr>
            <a:r>
              <a:rPr dirty="0"/>
              <a:t>¹ S1 finalizado en el estudio EVCS de 15 min.</a:t>
            </a:r>
            <a:r>
              <a:rPr dirty="0" err="1"/>
              <a:t/>
            </a:r>
            <a:r>
              <a:rPr dirty="0"/>
              <a:t/>
            </a:r>
          </a:p>
        </p:txBody>
      </p:sp>
      <p:sp>
        <p:nvSpPr>
          <p:cNvPr id="42" name="Rectangle 41"/>
          <p:cNvSpPr/>
          <p:nvPr/>
        </p:nvSpPr>
        <p:spPr>
          <a:xfrm>
            <a:off x="777240" y="5609844"/>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 y="5422392"/>
            <a:ext cx="10131552" cy="342900"/>
          </a:xfrm>
          <a:prstGeom prst="rect">
            <a:avLst/>
          </a:prstGeom>
          <a:noFill/>
        </p:spPr>
        <p:txBody>
          <a:bodyPr wrap="square" lIns="0" tIns="18288" rIns="0" bIns="18288" anchor="ctr">
            <a:spAutoFit/>
          </a:bodyPr>
          <a:lstStyle/>
          <a:p>
            <a:pPr>
              <a:spcAft>
                <a:spcPts val="0"/>
              </a:spcAft>
              <a:defRPr sz="1700" b="0" i="0">
                <a:solidFill>
                  <a:srgbClr val="182538"/>
                </a:solidFill>
                <a:latin typeface="Aptos"/>
              </a:defRPr>
            </a:pPr>
            <a:r>
              <a:t>Evaluar el impacto de las estaciones de recarga en el alimentador.</a:t>
            </a:r>
          </a:p>
        </p:txBody>
      </p:sp>
      <p:sp>
        <p:nvSpPr>
          <p:cNvPr id="44" name="Rectangle 43"/>
          <p:cNvSpPr/>
          <p:nvPr/>
        </p:nvSpPr>
        <p:spPr>
          <a:xfrm>
            <a:off x="777240" y="5993892"/>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8408" y="5806440"/>
            <a:ext cx="10131552" cy="342900"/>
          </a:xfrm>
          <a:prstGeom prst="rect">
            <a:avLst/>
          </a:prstGeom>
          <a:noFill/>
        </p:spPr>
        <p:txBody>
          <a:bodyPr wrap="square" lIns="0" tIns="18288" rIns="0" bIns="18288" anchor="ctr">
            <a:spAutoFit/>
          </a:bodyPr>
          <a:lstStyle/>
          <a:p>
            <a:pPr>
              <a:spcAft>
                <a:spcPts val="0"/>
              </a:spcAft>
              <a:defRPr sz="1700" b="0" i="0">
                <a:solidFill>
                  <a:srgbClr val="182538"/>
                </a:solidFill>
                <a:latin typeface="Aptos"/>
              </a:defRPr>
            </a:pPr>
            <a:r>
              <a:t>Usar S1 como referencia para medir el beneficio eléctrico del BESS y el V2G.</a:t>
            </a:r>
          </a:p>
        </p:txBody>
      </p:sp>
      <p:sp>
        <p:nvSpPr>
          <p:cNvPr id="46" name="Rectangle 45"/>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README.md  ·  src/integration/scenarios.py  ·  docs/S2_BESS_Kenia.md  ·  docs/S3_V2G_Cesar.md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GitHub: descargar la versión correcta</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GUÍA DE CÓDIGO</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03</a:t>
            </a:r>
          </a:p>
        </p:txBody>
      </p:sp>
      <p:sp>
        <p:nvSpPr>
          <p:cNvPr id="11" name="Rounded Rectangle 10"/>
          <p:cNvSpPr/>
          <p:nvPr/>
        </p:nvSpPr>
        <p:spPr>
          <a:xfrm>
            <a:off x="649224" y="1627632"/>
            <a:ext cx="10789920" cy="2971800"/>
          </a:xfrm>
          <a:prstGeom prst="roundRect">
            <a:avLst>
              <a:gd name="adj" fmla="val 10000"/>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1737360"/>
            <a:ext cx="10424160" cy="506577"/>
          </a:xfrm>
          <a:prstGeom prst="rect">
            <a:avLst/>
          </a:prstGeom>
          <a:noFill/>
        </p:spPr>
        <p:txBody>
          <a:bodyPr wrap="square" lIns="0" tIns="18288" rIns="0" bIns="18288" anchor="ctr">
            <a:spAutoFit/>
          </a:bodyPr>
          <a:lstStyle/>
          <a:p>
            <a:pPr>
              <a:spcAft>
                <a:spcPts val="0"/>
              </a:spcAft>
              <a:defRPr sz="1800" b="0" i="0">
                <a:solidFill>
                  <a:srgbClr val="CCF6F0"/>
                </a:solidFill>
                <a:latin typeface="Consolas"/>
              </a:defRPr>
            </a:pPr>
            <a:r>
              <a:t>git clone https://github.com/atnee/EVCS-BESS-V2G.git</a:t>
            </a:r>
          </a:p>
        </p:txBody>
      </p:sp>
      <p:sp>
        <p:nvSpPr>
          <p:cNvPr id="13" name="TextBox 12"/>
          <p:cNvSpPr txBox="1"/>
          <p:nvPr/>
        </p:nvSpPr>
        <p:spPr>
          <a:xfrm>
            <a:off x="850392" y="2280513"/>
            <a:ext cx="10424160" cy="506577"/>
          </a:xfrm>
          <a:prstGeom prst="rect">
            <a:avLst/>
          </a:prstGeom>
          <a:noFill/>
        </p:spPr>
        <p:txBody>
          <a:bodyPr wrap="square" lIns="0" tIns="18288" rIns="0" bIns="18288" anchor="ctr">
            <a:spAutoFit/>
          </a:bodyPr>
          <a:lstStyle/>
          <a:p>
            <a:pPr>
              <a:spcAft>
                <a:spcPts val="0"/>
              </a:spcAft>
              <a:defRPr sz="1800" b="0" i="0">
                <a:solidFill>
                  <a:srgbClr val="FFFFFF"/>
                </a:solidFill>
                <a:latin typeface="Consolas"/>
              </a:defRPr>
            </a:pPr>
            <a:r>
              <a:t>cd EVCS-BESS-V2G</a:t>
            </a:r>
          </a:p>
        </p:txBody>
      </p:sp>
      <p:sp>
        <p:nvSpPr>
          <p:cNvPr id="14" name="TextBox 13"/>
          <p:cNvSpPr txBox="1"/>
          <p:nvPr/>
        </p:nvSpPr>
        <p:spPr>
          <a:xfrm>
            <a:off x="850392" y="2823667"/>
            <a:ext cx="10424160" cy="506577"/>
          </a:xfrm>
          <a:prstGeom prst="rect">
            <a:avLst/>
          </a:prstGeom>
          <a:noFill/>
        </p:spPr>
        <p:txBody>
          <a:bodyPr wrap="square" lIns="0" tIns="18288" rIns="0" bIns="18288" anchor="ctr">
            <a:spAutoFit/>
          </a:bodyPr>
          <a:lstStyle/>
          <a:p>
            <a:pPr>
              <a:spcAft>
                <a:spcPts val="0"/>
              </a:spcAft>
              <a:defRPr sz="1800" b="0" i="0">
                <a:solidFill>
                  <a:srgbClr val="FFFFFF"/>
                </a:solidFill>
                <a:latin typeface="Consolas"/>
              </a:defRPr>
            </a:pPr>
            <a:r>
              <a:t>git switch feature/bess-kenia</a:t>
            </a:r>
          </a:p>
        </p:txBody>
      </p:sp>
      <p:sp>
        <p:nvSpPr>
          <p:cNvPr id="15" name="TextBox 14"/>
          <p:cNvSpPr txBox="1"/>
          <p:nvPr/>
        </p:nvSpPr>
        <p:spPr>
          <a:xfrm>
            <a:off x="850392" y="3366820"/>
            <a:ext cx="10424160" cy="506577"/>
          </a:xfrm>
          <a:prstGeom prst="rect">
            <a:avLst/>
          </a:prstGeom>
          <a:noFill/>
        </p:spPr>
        <p:txBody>
          <a:bodyPr wrap="square" lIns="0" tIns="18288" rIns="0" bIns="18288" anchor="ctr">
            <a:spAutoFit/>
          </a:bodyPr>
          <a:lstStyle/>
          <a:p>
            <a:pPr>
              <a:spcAft>
                <a:spcPts val="0"/>
              </a:spcAft>
              <a:defRPr sz="1800" b="0" i="0">
                <a:solidFill>
                  <a:srgbClr val="FFFFFF"/>
                </a:solidFill>
                <a:latin typeface="Consolas"/>
              </a:defRPr>
            </a:pPr>
            <a:r>
              <a:t>git fetch origin</a:t>
            </a:r>
          </a:p>
        </p:txBody>
      </p:sp>
      <p:sp>
        <p:nvSpPr>
          <p:cNvPr id="16" name="TextBox 15"/>
          <p:cNvSpPr txBox="1"/>
          <p:nvPr/>
        </p:nvSpPr>
        <p:spPr>
          <a:xfrm>
            <a:off x="850392" y="3909974"/>
            <a:ext cx="10424160" cy="506577"/>
          </a:xfrm>
          <a:prstGeom prst="rect">
            <a:avLst/>
          </a:prstGeom>
          <a:noFill/>
        </p:spPr>
        <p:txBody>
          <a:bodyPr wrap="square" lIns="0" tIns="18288" rIns="0" bIns="18288" anchor="ctr">
            <a:spAutoFit/>
          </a:bodyPr>
          <a:lstStyle/>
          <a:p>
            <a:pPr>
              <a:spcAft>
                <a:spcPts val="0"/>
              </a:spcAft>
              <a:defRPr sz="1800" b="0" i="0">
                <a:solidFill>
                  <a:srgbClr val="CCF6F0"/>
                </a:solidFill>
                <a:latin typeface="Consolas"/>
              </a:defRPr>
            </a:pPr>
            <a:r>
              <a:t>git merge origin/feature/ieee8500</a:t>
            </a:r>
          </a:p>
        </p:txBody>
      </p:sp>
      <p:sp>
        <p:nvSpPr>
          <p:cNvPr id="17" name="Rounded Rectangle 16"/>
          <p:cNvSpPr/>
          <p:nvPr/>
        </p:nvSpPr>
        <p:spPr>
          <a:xfrm>
            <a:off x="649224" y="4727448"/>
            <a:ext cx="10789920" cy="658368"/>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791456"/>
            <a:ext cx="10314432" cy="502920"/>
          </a:xfrm>
          <a:prstGeom prst="rect">
            <a:avLst/>
          </a:prstGeom>
          <a:noFill/>
        </p:spPr>
        <p:txBody>
          <a:bodyPr wrap="square" lIns="0" tIns="18288" rIns="0" bIns="18288" anchor="ctr">
            <a:spAutoFit/>
          </a:bodyPr>
          <a:lstStyle/>
          <a:p>
            <a:pPr>
              <a:spcAft>
                <a:spcPts val="0"/>
              </a:spcAft>
              <a:defRPr sz="1700" b="1" i="0">
                <a:solidFill>
                  <a:srgbClr val="0A1428"/>
                </a:solidFill>
                <a:latin typeface="Aptos"/>
              </a:defRPr>
            </a:pPr>
            <a:r>
              <a:t>Cambie la rama de Kenia por feature/v2g-cesar (Cesar) o feature/evcs-ayrton (Ayrton).</a:t>
            </a:r>
          </a:p>
        </p:txBody>
      </p:sp>
      <p:sp>
        <p:nvSpPr>
          <p:cNvPr id="19" name="Rectangle 18"/>
          <p:cNvSpPr/>
          <p:nvPr/>
        </p:nvSpPr>
        <p:spPr>
          <a:xfrm>
            <a:off x="813816" y="5673852"/>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4984" y="5486400"/>
            <a:ext cx="10131552" cy="269748"/>
          </a:xfrm>
          <a:prstGeom prst="rect">
            <a:avLst/>
          </a:prstGeom>
          <a:noFill/>
        </p:spPr>
        <p:txBody>
          <a:bodyPr wrap="square" lIns="0" tIns="18288" rIns="0" bIns="18288" anchor="ctr">
            <a:spAutoFit/>
          </a:bodyPr>
          <a:lstStyle/>
          <a:p>
            <a:pPr>
              <a:spcAft>
                <a:spcPts val="0"/>
              </a:spcAft>
              <a:defRPr sz="1650" b="0" i="0">
                <a:solidFill>
                  <a:srgbClr val="182538"/>
                </a:solidFill>
                <a:latin typeface="Aptos"/>
              </a:defRPr>
            </a:pPr>
            <a:r>
              <a:t>Rama común recomendada: feature/ieee8500 (IEEE 8500).</a:t>
            </a:r>
          </a:p>
        </p:txBody>
      </p:sp>
      <p:sp>
        <p:nvSpPr>
          <p:cNvPr id="21" name="Rectangle 20"/>
          <p:cNvSpPr/>
          <p:nvPr/>
        </p:nvSpPr>
        <p:spPr>
          <a:xfrm>
            <a:off x="813816" y="5984748"/>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4984" y="5797296"/>
            <a:ext cx="10131552" cy="269748"/>
          </a:xfrm>
          <a:prstGeom prst="rect">
            <a:avLst/>
          </a:prstGeom>
          <a:noFill/>
        </p:spPr>
        <p:txBody>
          <a:bodyPr wrap="square" lIns="0" tIns="18288" rIns="0" bIns="18288" anchor="ctr">
            <a:spAutoFit/>
          </a:bodyPr>
          <a:lstStyle/>
          <a:p>
            <a:pPr>
              <a:spcAft>
                <a:spcPts val="0"/>
              </a:spcAft>
              <a:defRPr sz="1650" b="0" i="0">
                <a:solidFill>
                  <a:srgbClr val="182538"/>
                </a:solidFill>
                <a:latin typeface="Aptos"/>
              </a:defRPr>
            </a:pPr>
            <a:r>
              <a:t>Cada investigador usa su propia rama e incorpora la rama compartida.</a:t>
            </a:r>
          </a:p>
        </p:txBody>
      </p:sp>
      <p:sp>
        <p:nvSpPr>
          <p:cNvPr id="24" name="Rectangle 23"/>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ONBOARDING.md  ·  docs/collaboration_guide.md  ·  .github/pull_request_template.md  ·  indicaciones facilitadas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Instalar, probar y ejecutar</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GUÍA DE CÓDIGO</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04</a:t>
            </a:r>
          </a:p>
        </p:txBody>
      </p:sp>
      <p:sp>
        <p:nvSpPr>
          <p:cNvPr id="11" name="Rounded Rectangle 10"/>
          <p:cNvSpPr/>
          <p:nvPr/>
        </p:nvSpPr>
        <p:spPr>
          <a:xfrm>
            <a:off x="649224" y="1627632"/>
            <a:ext cx="10789920" cy="2971800"/>
          </a:xfrm>
          <a:prstGeom prst="roundRect">
            <a:avLst>
              <a:gd name="adj" fmla="val 10000"/>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1737360"/>
            <a:ext cx="10424160" cy="506577"/>
          </a:xfrm>
          <a:prstGeom prst="rect">
            <a:avLst/>
          </a:prstGeom>
          <a:noFill/>
        </p:spPr>
        <p:txBody>
          <a:bodyPr wrap="square" lIns="0" tIns="18288" rIns="0" bIns="18288" anchor="ctr">
            <a:spAutoFit/>
          </a:bodyPr>
          <a:lstStyle/>
          <a:p>
            <a:pPr>
              <a:spcAft>
                <a:spcPts val="0"/>
              </a:spcAft>
              <a:defRPr sz="1800" b="0" i="0">
                <a:solidFill>
                  <a:srgbClr val="CCF6F0"/>
                </a:solidFill>
                <a:latin typeface="Consolas"/>
              </a:defRPr>
            </a:pPr>
            <a:r>
              <a:t>python -m venv .venv</a:t>
            </a:r>
          </a:p>
        </p:txBody>
      </p:sp>
      <p:sp>
        <p:nvSpPr>
          <p:cNvPr id="13" name="TextBox 12"/>
          <p:cNvSpPr txBox="1"/>
          <p:nvPr/>
        </p:nvSpPr>
        <p:spPr>
          <a:xfrm>
            <a:off x="850392" y="2280513"/>
            <a:ext cx="10424160" cy="506577"/>
          </a:xfrm>
          <a:prstGeom prst="rect">
            <a:avLst/>
          </a:prstGeom>
          <a:noFill/>
        </p:spPr>
        <p:txBody>
          <a:bodyPr wrap="square" lIns="0" tIns="18288" rIns="0" bIns="18288" anchor="ctr">
            <a:spAutoFit/>
          </a:bodyPr>
          <a:lstStyle/>
          <a:p>
            <a:pPr>
              <a:spcAft>
                <a:spcPts val="0"/>
              </a:spcAft>
              <a:defRPr sz="1800" b="0" i="0">
                <a:solidFill>
                  <a:srgbClr val="FFFFFF"/>
                </a:solidFill>
                <a:latin typeface="Consolas"/>
              </a:defRPr>
            </a:pPr>
            <a:r>
              <a:t>.venv\Scripts\Activate.ps1</a:t>
            </a:r>
          </a:p>
        </p:txBody>
      </p:sp>
      <p:sp>
        <p:nvSpPr>
          <p:cNvPr id="14" name="TextBox 13"/>
          <p:cNvSpPr txBox="1"/>
          <p:nvPr/>
        </p:nvSpPr>
        <p:spPr>
          <a:xfrm>
            <a:off x="850392" y="2823667"/>
            <a:ext cx="10424160" cy="506577"/>
          </a:xfrm>
          <a:prstGeom prst="rect">
            <a:avLst/>
          </a:prstGeom>
          <a:noFill/>
        </p:spPr>
        <p:txBody>
          <a:bodyPr wrap="square" lIns="0" tIns="18288" rIns="0" bIns="18288" anchor="ctr">
            <a:spAutoFit/>
          </a:bodyPr>
          <a:lstStyle/>
          <a:p>
            <a:pPr>
              <a:spcAft>
                <a:spcPts val="0"/>
              </a:spcAft>
              <a:defRPr sz="1800" b="0" i="0">
                <a:solidFill>
                  <a:srgbClr val="FFFFFF"/>
                </a:solidFill>
                <a:latin typeface="Consolas"/>
              </a:defRPr>
            </a:pPr>
            <a:r>
              <a:t>python -m pip install -e ".[dev]"</a:t>
            </a:r>
          </a:p>
        </p:txBody>
      </p:sp>
      <p:sp>
        <p:nvSpPr>
          <p:cNvPr id="15" name="TextBox 14"/>
          <p:cNvSpPr txBox="1"/>
          <p:nvPr/>
        </p:nvSpPr>
        <p:spPr>
          <a:xfrm>
            <a:off x="850392" y="3366820"/>
            <a:ext cx="10424160" cy="506577"/>
          </a:xfrm>
          <a:prstGeom prst="rect">
            <a:avLst/>
          </a:prstGeom>
          <a:noFill/>
        </p:spPr>
        <p:txBody>
          <a:bodyPr wrap="square" lIns="0" tIns="18288" rIns="0" bIns="18288" anchor="ctr">
            <a:spAutoFit/>
          </a:bodyPr>
          <a:lstStyle/>
          <a:p>
            <a:pPr>
              <a:spcAft>
                <a:spcPts val="0"/>
              </a:spcAft>
              <a:defRPr sz="1800" b="0" i="0">
                <a:solidFill>
                  <a:srgbClr val="FFFFFF"/>
                </a:solidFill>
                <a:latin typeface="Consolas"/>
              </a:defRPr>
            </a:pPr>
            <a:r>
              <a:t>python -m pytest tests/test_bess.py tests/test_strategies.py tests/test_module_independence.py -q</a:t>
            </a:r>
          </a:p>
        </p:txBody>
      </p:sp>
      <p:sp>
        <p:nvSpPr>
          <p:cNvPr id="16" name="TextBox 15"/>
          <p:cNvSpPr txBox="1"/>
          <p:nvPr/>
        </p:nvSpPr>
        <p:spPr>
          <a:xfrm>
            <a:off x="850392" y="3909974"/>
            <a:ext cx="10424160" cy="506577"/>
          </a:xfrm>
          <a:prstGeom prst="rect">
            <a:avLst/>
          </a:prstGeom>
          <a:noFill/>
        </p:spPr>
        <p:txBody>
          <a:bodyPr wrap="square" lIns="0" tIns="18288" rIns="0" bIns="18288" anchor="ctr">
            <a:spAutoFit/>
          </a:bodyPr>
          <a:lstStyle/>
          <a:p>
            <a:pPr>
              <a:spcAft>
                <a:spcPts val="0"/>
              </a:spcAft>
              <a:defRPr sz="1800" b="0" i="0">
                <a:solidFill>
                  <a:srgbClr val="CCF6F0"/>
                </a:solidFill>
                <a:latin typeface="Consolas"/>
              </a:defRPr>
            </a:pPr>
            <a:r>
              <a:t>python -m bess</a:t>
            </a:r>
          </a:p>
        </p:txBody>
      </p:sp>
      <p:sp>
        <p:nvSpPr>
          <p:cNvPr id="17" name="Rounded Rectangle 16"/>
          <p:cNvSpPr/>
          <p:nvPr/>
        </p:nvSpPr>
        <p:spPr>
          <a:xfrm>
            <a:off x="649224" y="4727448"/>
            <a:ext cx="10789920" cy="658368"/>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791456"/>
            <a:ext cx="10314432" cy="502920"/>
          </a:xfrm>
          <a:prstGeom prst="rect">
            <a:avLst/>
          </a:prstGeom>
          <a:noFill/>
        </p:spPr>
        <p:txBody>
          <a:bodyPr wrap="square" lIns="0" tIns="18288" rIns="0" bIns="18288" anchor="ctr">
            <a:spAutoFit/>
          </a:bodyPr>
          <a:lstStyle/>
          <a:p>
            <a:pPr>
              <a:spcAft>
                <a:spcPts val="0"/>
              </a:spcAft>
              <a:defRPr sz="1700" b="1" i="0">
                <a:solidFill>
                  <a:srgbClr val="0A1428"/>
                </a:solidFill>
                <a:latin typeface="Aptos"/>
              </a:defRPr>
            </a:pPr>
            <a:r>
              <a:t>Cesar: python -m v2g  |  Ayrton: python -m evcs  |  Linux/macOS: source .venv/bin/activate</a:t>
            </a:r>
          </a:p>
        </p:txBody>
      </p:sp>
      <p:sp>
        <p:nvSpPr>
          <p:cNvPr id="19" name="Rectangle 18"/>
          <p:cNvSpPr/>
          <p:nvPr/>
        </p:nvSpPr>
        <p:spPr>
          <a:xfrm>
            <a:off x="813816" y="5673852"/>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4984" y="5486400"/>
            <a:ext cx="10131552" cy="269748"/>
          </a:xfrm>
          <a:prstGeom prst="rect">
            <a:avLst/>
          </a:prstGeom>
          <a:noFill/>
        </p:spPr>
        <p:txBody>
          <a:bodyPr wrap="square" lIns="0" tIns="18288" rIns="0" bIns="18288" anchor="ctr">
            <a:spAutoFit/>
          </a:bodyPr>
          <a:lstStyle/>
          <a:p>
            <a:pPr>
              <a:spcAft>
                <a:spcPts val="0"/>
              </a:spcAft>
              <a:defRPr sz="1650" b="0" i="0">
                <a:solidFill>
                  <a:srgbClr val="182538"/>
                </a:solidFill>
                <a:latin typeface="Aptos"/>
              </a:defRPr>
            </a:pPr>
            <a:r>
              <a:t>Python ≥ 3.12; versión del entorno documentado: 3.13.5.</a:t>
            </a:r>
          </a:p>
        </p:txBody>
      </p:sp>
      <p:sp>
        <p:nvSpPr>
          <p:cNvPr id="21" name="Rectangle 20"/>
          <p:cNvSpPr/>
          <p:nvPr/>
        </p:nvSpPr>
        <p:spPr>
          <a:xfrm>
            <a:off x="813816" y="5984748"/>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4984" y="5797296"/>
            <a:ext cx="10131552" cy="269748"/>
          </a:xfrm>
          <a:prstGeom prst="rect">
            <a:avLst/>
          </a:prstGeom>
          <a:noFill/>
        </p:spPr>
        <p:txBody>
          <a:bodyPr wrap="square" lIns="0" tIns="18288" rIns="0" bIns="18288" anchor="ctr">
            <a:spAutoFit/>
          </a:bodyPr>
          <a:lstStyle/>
          <a:p>
            <a:pPr>
              <a:spcAft>
                <a:spcPts val="0"/>
              </a:spcAft>
              <a:defRPr sz="1650" b="0" i="0">
                <a:solidFill>
                  <a:srgbClr val="182538"/>
                </a:solidFill>
                <a:latin typeface="Aptos"/>
              </a:defRPr>
            </a:pPr>
            <a:r>
              <a:t>Motor de cálculo: pandapower 3.4; sin OpenDSS ni solucionador comercial.</a:t>
            </a:r>
          </a:p>
        </p:txBody>
      </p:sp>
      <p:sp>
        <p:nvSpPr>
          <p:cNvPr id="23" name="Rectangle 22"/>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pyproject.toml  ·  README.md  ·  docs/validation.md  ·  docs/collaboration_guide.md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Trabajo en equipo: reglas de Git</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GUÍA DE CÓDIGO</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05</a:t>
            </a:r>
          </a:p>
        </p:txBody>
      </p:sp>
      <p:sp>
        <p:nvSpPr>
          <p:cNvPr id="11" name="Rounded Rectangle 10"/>
          <p:cNvSpPr/>
          <p:nvPr/>
        </p:nvSpPr>
        <p:spPr>
          <a:xfrm>
            <a:off x="676656" y="1682496"/>
            <a:ext cx="5303520" cy="172821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1837944"/>
            <a:ext cx="621792" cy="448056"/>
          </a:xfrm>
          <a:prstGeom prst="rect">
            <a:avLst/>
          </a:prstGeom>
          <a:noFill/>
        </p:spPr>
        <p:txBody>
          <a:bodyPr wrap="square" lIns="0" tIns="18288" rIns="0" bIns="18288" anchor="ctr">
            <a:spAutoFit/>
          </a:bodyPr>
          <a:lstStyle/>
          <a:p>
            <a:pPr>
              <a:spcAft>
                <a:spcPts val="0"/>
              </a:spcAft>
              <a:defRPr sz="2300" b="1" i="0">
                <a:solidFill>
                  <a:srgbClr val="00A89B"/>
                </a:solidFill>
                <a:latin typeface="Aptos"/>
              </a:defRPr>
            </a:pPr>
            <a:r>
              <a:t>01</a:t>
            </a:r>
          </a:p>
        </p:txBody>
      </p:sp>
      <p:sp>
        <p:nvSpPr>
          <p:cNvPr id="13" name="TextBox 12"/>
          <p:cNvSpPr txBox="1"/>
          <p:nvPr/>
        </p:nvSpPr>
        <p:spPr>
          <a:xfrm>
            <a:off x="1499616" y="1847088"/>
            <a:ext cx="4206240" cy="384048"/>
          </a:xfrm>
          <a:prstGeom prst="rect">
            <a:avLst/>
          </a:prstGeom>
          <a:noFill/>
        </p:spPr>
        <p:txBody>
          <a:bodyPr wrap="square" lIns="0" tIns="18288" rIns="0" bIns="18288" anchor="ctr">
            <a:spAutoFit/>
          </a:bodyPr>
          <a:lstStyle/>
          <a:p>
            <a:pPr>
              <a:spcAft>
                <a:spcPts val="0"/>
              </a:spcAft>
              <a:defRPr sz="1900" b="1" i="0">
                <a:solidFill>
                  <a:srgbClr val="0A1428"/>
                </a:solidFill>
                <a:latin typeface="Aptos"/>
              </a:defRPr>
            </a:pPr>
            <a:r>
              <a:t>ARCHIVOS PROPIOS</a:t>
            </a:r>
          </a:p>
        </p:txBody>
      </p:sp>
      <p:sp>
        <p:nvSpPr>
          <p:cNvPr id="14" name="TextBox 13"/>
          <p:cNvSpPr txBox="1"/>
          <p:nvPr/>
        </p:nvSpPr>
        <p:spPr>
          <a:xfrm>
            <a:off x="932688" y="2340864"/>
            <a:ext cx="4818888" cy="886968"/>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t>EVCS / BESS / V2G; notebook y YAML de cada responsable.</a:t>
            </a:r>
          </a:p>
        </p:txBody>
      </p:sp>
      <p:sp>
        <p:nvSpPr>
          <p:cNvPr id="15" name="Rounded Rectangle 14"/>
          <p:cNvSpPr/>
          <p:nvPr/>
        </p:nvSpPr>
        <p:spPr>
          <a:xfrm>
            <a:off x="6208776" y="1682496"/>
            <a:ext cx="5303520" cy="172821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82512" y="1837944"/>
            <a:ext cx="621792" cy="448056"/>
          </a:xfrm>
          <a:prstGeom prst="rect">
            <a:avLst/>
          </a:prstGeom>
          <a:noFill/>
        </p:spPr>
        <p:txBody>
          <a:bodyPr wrap="square" lIns="0" tIns="18288" rIns="0" bIns="18288" anchor="ctr">
            <a:spAutoFit/>
          </a:bodyPr>
          <a:lstStyle/>
          <a:p>
            <a:pPr>
              <a:spcAft>
                <a:spcPts val="0"/>
              </a:spcAft>
              <a:defRPr sz="2300" b="1" i="0">
                <a:solidFill>
                  <a:srgbClr val="00A89B"/>
                </a:solidFill>
                <a:latin typeface="Aptos"/>
              </a:defRPr>
            </a:pPr>
            <a:r>
              <a:t>02</a:t>
            </a:r>
          </a:p>
        </p:txBody>
      </p:sp>
      <p:sp>
        <p:nvSpPr>
          <p:cNvPr id="17" name="TextBox 16"/>
          <p:cNvSpPr txBox="1"/>
          <p:nvPr/>
        </p:nvSpPr>
        <p:spPr>
          <a:xfrm>
            <a:off x="7031736" y="1847088"/>
            <a:ext cx="4206240" cy="384048"/>
          </a:xfrm>
          <a:prstGeom prst="rect">
            <a:avLst/>
          </a:prstGeom>
          <a:noFill/>
        </p:spPr>
        <p:txBody>
          <a:bodyPr wrap="square" lIns="0" tIns="18288" rIns="0" bIns="18288" anchor="ctr">
            <a:spAutoFit/>
          </a:bodyPr>
          <a:lstStyle/>
          <a:p>
            <a:pPr>
              <a:spcAft>
                <a:spcPts val="0"/>
              </a:spcAft>
              <a:defRPr sz="1900" b="1" i="0">
                <a:solidFill>
                  <a:srgbClr val="0A1428"/>
                </a:solidFill>
                <a:latin typeface="Aptos"/>
              </a:defRPr>
            </a:pPr>
            <a:r>
              <a:t>HISTORIAL LIMPIO</a:t>
            </a:r>
          </a:p>
        </p:txBody>
      </p:sp>
      <p:sp>
        <p:nvSpPr>
          <p:cNvPr id="18" name="TextBox 17"/>
          <p:cNvSpPr txBox="1"/>
          <p:nvPr/>
        </p:nvSpPr>
        <p:spPr>
          <a:xfrm>
            <a:off x="6464808" y="2340864"/>
            <a:ext cx="4818888" cy="886968"/>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t>Sin commits en main o en la rama común; sin --force.</a:t>
            </a:r>
          </a:p>
        </p:txBody>
      </p:sp>
      <p:sp>
        <p:nvSpPr>
          <p:cNvPr id="19" name="Rounded Rectangle 18"/>
          <p:cNvSpPr/>
          <p:nvPr/>
        </p:nvSpPr>
        <p:spPr>
          <a:xfrm>
            <a:off x="676656" y="3621024"/>
            <a:ext cx="5303520" cy="172821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0392" y="3776472"/>
            <a:ext cx="621792" cy="448056"/>
          </a:xfrm>
          <a:prstGeom prst="rect">
            <a:avLst/>
          </a:prstGeom>
          <a:noFill/>
        </p:spPr>
        <p:txBody>
          <a:bodyPr wrap="square" lIns="0" tIns="18288" rIns="0" bIns="18288" anchor="ctr">
            <a:spAutoFit/>
          </a:bodyPr>
          <a:lstStyle/>
          <a:p>
            <a:pPr>
              <a:spcAft>
                <a:spcPts val="0"/>
              </a:spcAft>
              <a:defRPr sz="2300" b="1" i="0">
                <a:solidFill>
                  <a:srgbClr val="00A89B"/>
                </a:solidFill>
                <a:latin typeface="Aptos"/>
              </a:defRPr>
            </a:pPr>
            <a:r>
              <a:t>03</a:t>
            </a:r>
          </a:p>
        </p:txBody>
      </p:sp>
      <p:sp>
        <p:nvSpPr>
          <p:cNvPr id="21" name="TextBox 20"/>
          <p:cNvSpPr txBox="1"/>
          <p:nvPr/>
        </p:nvSpPr>
        <p:spPr>
          <a:xfrm>
            <a:off x="1499616" y="3785615"/>
            <a:ext cx="4206240" cy="384048"/>
          </a:xfrm>
          <a:prstGeom prst="rect">
            <a:avLst/>
          </a:prstGeom>
          <a:noFill/>
        </p:spPr>
        <p:txBody>
          <a:bodyPr wrap="square" lIns="0" tIns="18288" rIns="0" bIns="18288" anchor="ctr">
            <a:spAutoFit/>
          </a:bodyPr>
          <a:lstStyle/>
          <a:p>
            <a:pPr>
              <a:spcAft>
                <a:spcPts val="0"/>
              </a:spcAft>
              <a:defRPr sz="1900" b="1" i="0">
                <a:solidFill>
                  <a:srgbClr val="0A1428"/>
                </a:solidFill>
                <a:latin typeface="Aptos"/>
              </a:defRPr>
            </a:pPr>
            <a:r>
              <a:t>INTERFACES COMPARTIDAS</a:t>
            </a:r>
          </a:p>
        </p:txBody>
      </p:sp>
      <p:sp>
        <p:nvSpPr>
          <p:cNvPr id="22" name="TextBox 21"/>
          <p:cNvSpPr txBox="1"/>
          <p:nvPr/>
        </p:nvSpPr>
        <p:spPr>
          <a:xfrm>
            <a:off x="932688" y="4279392"/>
            <a:ext cx="4818888" cy="886968"/>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t>core, network, integration, data y network.yaml requieren acuerdo.</a:t>
            </a:r>
          </a:p>
        </p:txBody>
      </p:sp>
      <p:sp>
        <p:nvSpPr>
          <p:cNvPr id="23" name="Rounded Rectangle 22"/>
          <p:cNvSpPr/>
          <p:nvPr/>
        </p:nvSpPr>
        <p:spPr>
          <a:xfrm>
            <a:off x="6208776" y="3621024"/>
            <a:ext cx="5303520" cy="172821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82512" y="3776472"/>
            <a:ext cx="621792" cy="448056"/>
          </a:xfrm>
          <a:prstGeom prst="rect">
            <a:avLst/>
          </a:prstGeom>
          <a:noFill/>
        </p:spPr>
        <p:txBody>
          <a:bodyPr wrap="square" lIns="0" tIns="18288" rIns="0" bIns="18288" anchor="ctr">
            <a:spAutoFit/>
          </a:bodyPr>
          <a:lstStyle/>
          <a:p>
            <a:pPr>
              <a:spcAft>
                <a:spcPts val="0"/>
              </a:spcAft>
              <a:defRPr sz="2300" b="1" i="0">
                <a:solidFill>
                  <a:srgbClr val="00A89B"/>
                </a:solidFill>
                <a:latin typeface="Aptos"/>
              </a:defRPr>
            </a:pPr>
            <a:r>
              <a:t>04</a:t>
            </a:r>
          </a:p>
        </p:txBody>
      </p:sp>
      <p:sp>
        <p:nvSpPr>
          <p:cNvPr id="25" name="TextBox 24"/>
          <p:cNvSpPr txBox="1"/>
          <p:nvPr/>
        </p:nvSpPr>
        <p:spPr>
          <a:xfrm>
            <a:off x="7031736" y="3785615"/>
            <a:ext cx="4206240" cy="384048"/>
          </a:xfrm>
          <a:prstGeom prst="rect">
            <a:avLst/>
          </a:prstGeom>
          <a:noFill/>
        </p:spPr>
        <p:txBody>
          <a:bodyPr wrap="square" lIns="0" tIns="18288" rIns="0" bIns="18288" anchor="ctr">
            <a:spAutoFit/>
          </a:bodyPr>
          <a:lstStyle/>
          <a:p>
            <a:pPr>
              <a:spcAft>
                <a:spcPts val="0"/>
              </a:spcAft>
              <a:defRPr sz="1900" b="1" i="0">
                <a:solidFill>
                  <a:srgbClr val="0A1428"/>
                </a:solidFill>
                <a:latin typeface="Aptos"/>
              </a:defRPr>
            </a:pPr>
            <a:r>
              <a:t>PR + PRUEBAS</a:t>
            </a:r>
          </a:p>
        </p:txBody>
      </p:sp>
      <p:sp>
        <p:nvSpPr>
          <p:cNvPr id="26" name="TextBox 25"/>
          <p:cNvSpPr txBox="1"/>
          <p:nvPr/>
        </p:nvSpPr>
        <p:spPr>
          <a:xfrm>
            <a:off x="6464808" y="4279392"/>
            <a:ext cx="4818888" cy="886968"/>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t>Pull Request de la rama personal a la común; resultados fuera de Git.</a:t>
            </a:r>
          </a:p>
        </p:txBody>
      </p:sp>
      <p:sp>
        <p:nvSpPr>
          <p:cNvPr id="27" name="TextBox 26"/>
          <p:cNvSpPr txBox="1"/>
          <p:nvPr/>
        </p:nvSpPr>
        <p:spPr>
          <a:xfrm>
            <a:off x="804672" y="5715000"/>
            <a:ext cx="10607040" cy="402336"/>
          </a:xfrm>
          <a:prstGeom prst="rect">
            <a:avLst/>
          </a:prstGeom>
          <a:noFill/>
        </p:spPr>
        <p:txBody>
          <a:bodyPr wrap="square" lIns="0" tIns="18288" rIns="0" bIns="18288" anchor="ctr">
            <a:spAutoFit/>
          </a:bodyPr>
          <a:lstStyle/>
          <a:p>
            <a:pPr>
              <a:spcAft>
                <a:spcPts val="0"/>
              </a:spcAft>
              <a:defRPr sz="1800" b="1" i="0">
                <a:solidFill>
                  <a:srgbClr val="0A1428"/>
                </a:solidFill>
                <a:latin typeface="Aptos"/>
              </a:defRPr>
            </a:pPr>
            <a:r>
              <a:t>Los tres revisan los cambios antes de modificar el contrato compartido.</a:t>
            </a:r>
          </a:p>
        </p:txBody>
      </p:sp>
      <p:sp>
        <p:nvSpPr>
          <p:cNvPr id="28" name="Rectangle 27"/>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.gitignore  ·  AGENTS.md  ·  docs/collaboration_guide.md  ·  .github/pull_request_template.md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Estructura del repositorio</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GUÍA DE CÓDIGO</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06</a:t>
            </a:r>
          </a:p>
        </p:txBody>
      </p:sp>
      <p:sp>
        <p:nvSpPr>
          <p:cNvPr id="11" name="Rounded Rectangle 10"/>
          <p:cNvSpPr/>
          <p:nvPr/>
        </p:nvSpPr>
        <p:spPr>
          <a:xfrm>
            <a:off x="667512" y="1700784"/>
            <a:ext cx="5340096" cy="86868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67512" y="1700784"/>
            <a:ext cx="73152" cy="8686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1810512"/>
            <a:ext cx="1938528" cy="320040"/>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configs/</a:t>
            </a:r>
          </a:p>
        </p:txBody>
      </p:sp>
      <p:sp>
        <p:nvSpPr>
          <p:cNvPr id="14" name="TextBox 13"/>
          <p:cNvSpPr txBox="1"/>
          <p:nvPr/>
        </p:nvSpPr>
        <p:spPr>
          <a:xfrm>
            <a:off x="2788920" y="1783080"/>
            <a:ext cx="3008376" cy="667512"/>
          </a:xfrm>
          <a:prstGeom prst="rect">
            <a:avLst/>
          </a:prstGeom>
          <a:noFill/>
        </p:spPr>
        <p:txBody>
          <a:bodyPr wrap="square" lIns="0" tIns="18288" rIns="0" bIns="18288" anchor="ctr">
            <a:spAutoFit/>
          </a:bodyPr>
          <a:lstStyle/>
          <a:p>
            <a:pPr>
              <a:spcAft>
                <a:spcPts val="0"/>
              </a:spcAft>
              <a:defRPr sz="1620" b="0" i="0">
                <a:solidFill>
                  <a:srgbClr val="536276"/>
                </a:solidFill>
                <a:latin typeface="Aptos"/>
              </a:defRPr>
            </a:pPr>
            <a:r>
              <a:t>YAML: EVCS, BESS, V2G y red</a:t>
            </a:r>
          </a:p>
        </p:txBody>
      </p:sp>
      <p:sp>
        <p:nvSpPr>
          <p:cNvPr id="15" name="Rounded Rectangle 14"/>
          <p:cNvSpPr/>
          <p:nvPr/>
        </p:nvSpPr>
        <p:spPr>
          <a:xfrm>
            <a:off x="667512" y="2688336"/>
            <a:ext cx="5340096" cy="86868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67512" y="2688336"/>
            <a:ext cx="73152" cy="8686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2798064"/>
            <a:ext cx="1938528" cy="320040"/>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src/</a:t>
            </a:r>
          </a:p>
        </p:txBody>
      </p:sp>
      <p:sp>
        <p:nvSpPr>
          <p:cNvPr id="18" name="TextBox 17"/>
          <p:cNvSpPr txBox="1"/>
          <p:nvPr/>
        </p:nvSpPr>
        <p:spPr>
          <a:xfrm>
            <a:off x="2788920" y="2770632"/>
            <a:ext cx="3008376" cy="667512"/>
          </a:xfrm>
          <a:prstGeom prst="rect">
            <a:avLst/>
          </a:prstGeom>
          <a:noFill/>
        </p:spPr>
        <p:txBody>
          <a:bodyPr wrap="square" lIns="0" tIns="18288" rIns="0" bIns="18288" anchor="ctr">
            <a:spAutoFit/>
          </a:bodyPr>
          <a:lstStyle/>
          <a:p>
            <a:pPr>
              <a:spcAft>
                <a:spcPts val="0"/>
              </a:spcAft>
              <a:defRPr sz="1620" b="0" i="0">
                <a:solidFill>
                  <a:srgbClr val="536276"/>
                </a:solidFill>
                <a:latin typeface="Aptos"/>
              </a:defRPr>
            </a:pPr>
            <a:r>
              <a:t>evcs, bess, v2g, core, network, integration</a:t>
            </a:r>
          </a:p>
        </p:txBody>
      </p:sp>
      <p:sp>
        <p:nvSpPr>
          <p:cNvPr id="19" name="Rounded Rectangle 18"/>
          <p:cNvSpPr/>
          <p:nvPr/>
        </p:nvSpPr>
        <p:spPr>
          <a:xfrm>
            <a:off x="667512" y="3675888"/>
            <a:ext cx="5340096" cy="86868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67512" y="3675888"/>
            <a:ext cx="73152" cy="8686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3785616"/>
            <a:ext cx="1938528" cy="320040"/>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data/</a:t>
            </a:r>
          </a:p>
        </p:txBody>
      </p:sp>
      <p:sp>
        <p:nvSpPr>
          <p:cNvPr id="22" name="TextBox 21"/>
          <p:cNvSpPr txBox="1"/>
          <p:nvPr/>
        </p:nvSpPr>
        <p:spPr>
          <a:xfrm>
            <a:off x="2788920" y="3758184"/>
            <a:ext cx="3008376" cy="667512"/>
          </a:xfrm>
          <a:prstGeom prst="rect">
            <a:avLst/>
          </a:prstGeom>
          <a:noFill/>
        </p:spPr>
        <p:txBody>
          <a:bodyPr wrap="square" lIns="0" tIns="18288" rIns="0" bIns="18288" anchor="ctr">
            <a:spAutoFit/>
          </a:bodyPr>
          <a:lstStyle/>
          <a:p>
            <a:pPr>
              <a:spcAft>
                <a:spcPts val="0"/>
              </a:spcAft>
              <a:defRPr sz="1620" b="0" i="0">
                <a:solidFill>
                  <a:srgbClr val="536276"/>
                </a:solidFill>
                <a:latin typeface="Aptos"/>
              </a:defRPr>
            </a:pPr>
            <a:r>
              <a:t>Archivos IEEE .dss + plantilla Honduras</a:t>
            </a:r>
          </a:p>
        </p:txBody>
      </p:sp>
      <p:sp>
        <p:nvSpPr>
          <p:cNvPr id="23" name="Rounded Rectangle 22"/>
          <p:cNvSpPr/>
          <p:nvPr/>
        </p:nvSpPr>
        <p:spPr>
          <a:xfrm>
            <a:off x="667512" y="4663440"/>
            <a:ext cx="5340096" cy="86868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67512" y="4663440"/>
            <a:ext cx="73152" cy="8686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4773168"/>
            <a:ext cx="1938528" cy="320040"/>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docs/</a:t>
            </a:r>
          </a:p>
        </p:txBody>
      </p:sp>
      <p:sp>
        <p:nvSpPr>
          <p:cNvPr id="26" name="TextBox 25"/>
          <p:cNvSpPr txBox="1"/>
          <p:nvPr/>
        </p:nvSpPr>
        <p:spPr>
          <a:xfrm>
            <a:off x="2788920" y="4745736"/>
            <a:ext cx="3008376" cy="667512"/>
          </a:xfrm>
          <a:prstGeom prst="rect">
            <a:avLst/>
          </a:prstGeom>
          <a:noFill/>
        </p:spPr>
        <p:txBody>
          <a:bodyPr wrap="square" lIns="0" tIns="18288" rIns="0" bIns="18288" anchor="ctr">
            <a:spAutoFit/>
          </a:bodyPr>
          <a:lstStyle/>
          <a:p>
            <a:pPr>
              <a:spcAft>
                <a:spcPts val="0"/>
              </a:spcAft>
              <a:defRPr sz="1620" b="0" i="0">
                <a:solidFill>
                  <a:srgbClr val="536276"/>
                </a:solidFill>
                <a:latin typeface="Aptos"/>
              </a:defRPr>
            </a:pPr>
            <a:r>
              <a:t>metodología, validación y figuras EVCS</a:t>
            </a:r>
          </a:p>
        </p:txBody>
      </p:sp>
      <p:sp>
        <p:nvSpPr>
          <p:cNvPr id="27" name="Rounded Rectangle 26"/>
          <p:cNvSpPr/>
          <p:nvPr/>
        </p:nvSpPr>
        <p:spPr>
          <a:xfrm>
            <a:off x="6208775" y="1700784"/>
            <a:ext cx="5340096" cy="86868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08775" y="1700784"/>
            <a:ext cx="73152" cy="8686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9943" y="1810512"/>
            <a:ext cx="1938528" cy="320040"/>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notebooks/</a:t>
            </a:r>
          </a:p>
        </p:txBody>
      </p:sp>
      <p:sp>
        <p:nvSpPr>
          <p:cNvPr id="30" name="TextBox 29"/>
          <p:cNvSpPr txBox="1"/>
          <p:nvPr/>
        </p:nvSpPr>
        <p:spPr>
          <a:xfrm>
            <a:off x="8330183" y="1783080"/>
            <a:ext cx="3008376" cy="667512"/>
          </a:xfrm>
          <a:prstGeom prst="rect">
            <a:avLst/>
          </a:prstGeom>
          <a:noFill/>
        </p:spPr>
        <p:txBody>
          <a:bodyPr wrap="square" lIns="0" tIns="18288" rIns="0" bIns="18288" anchor="ctr">
            <a:spAutoFit/>
          </a:bodyPr>
          <a:lstStyle/>
          <a:p>
            <a:pPr>
              <a:spcAft>
                <a:spcPts val="0"/>
              </a:spcAft>
              <a:defRPr sz="1620" b="0" i="0">
                <a:solidFill>
                  <a:srgbClr val="536276"/>
                </a:solidFill>
                <a:latin typeface="Aptos"/>
              </a:defRPr>
            </a:pPr>
            <a:r>
              <a:t>01 EVCS · 02 BESS · 03 V2G · 04 integración</a:t>
            </a:r>
          </a:p>
        </p:txBody>
      </p:sp>
      <p:sp>
        <p:nvSpPr>
          <p:cNvPr id="31" name="Rounded Rectangle 30"/>
          <p:cNvSpPr/>
          <p:nvPr/>
        </p:nvSpPr>
        <p:spPr>
          <a:xfrm>
            <a:off x="6208775" y="2688336"/>
            <a:ext cx="5340096" cy="86868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08775" y="2688336"/>
            <a:ext cx="73152" cy="8686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9943" y="2798064"/>
            <a:ext cx="1938528" cy="320040"/>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tests/</a:t>
            </a:r>
          </a:p>
        </p:txBody>
      </p:sp>
      <p:sp>
        <p:nvSpPr>
          <p:cNvPr id="34" name="TextBox 33"/>
          <p:cNvSpPr txBox="1"/>
          <p:nvPr/>
        </p:nvSpPr>
        <p:spPr>
          <a:xfrm>
            <a:off x="8330183" y="2770632"/>
            <a:ext cx="3008376" cy="667512"/>
          </a:xfrm>
          <a:prstGeom prst="rect">
            <a:avLst/>
          </a:prstGeom>
          <a:noFill/>
        </p:spPr>
        <p:txBody>
          <a:bodyPr wrap="square" lIns="0" tIns="18288" rIns="0" bIns="18288" anchor="ctr">
            <a:spAutoFit/>
          </a:bodyPr>
          <a:lstStyle/>
          <a:p>
            <a:pPr>
              <a:spcAft>
                <a:spcPts val="0"/>
              </a:spcAft>
              <a:defRPr sz="1620" b="0" i="0">
                <a:solidFill>
                  <a:srgbClr val="536276"/>
                </a:solidFill>
                <a:latin typeface="Aptos"/>
              </a:defRPr>
            </a:pPr>
            <a:r>
              <a:t>pruebas pytest</a:t>
            </a:r>
          </a:p>
        </p:txBody>
      </p:sp>
      <p:sp>
        <p:nvSpPr>
          <p:cNvPr id="35" name="Rounded Rectangle 34"/>
          <p:cNvSpPr/>
          <p:nvPr/>
        </p:nvSpPr>
        <p:spPr>
          <a:xfrm>
            <a:off x="6208775" y="3675888"/>
            <a:ext cx="5340096" cy="86868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08775" y="3675888"/>
            <a:ext cx="73152" cy="868680"/>
          </a:xfrm>
          <a:prstGeom prst="rect">
            <a:avLst/>
          </a:prstGeom>
          <a:solidFill>
            <a:srgbClr val="D96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9943" y="3785616"/>
            <a:ext cx="1938528" cy="320040"/>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results/</a:t>
            </a:r>
          </a:p>
        </p:txBody>
      </p:sp>
      <p:sp>
        <p:nvSpPr>
          <p:cNvPr id="38" name="TextBox 37"/>
          <p:cNvSpPr txBox="1"/>
          <p:nvPr/>
        </p:nvSpPr>
        <p:spPr>
          <a:xfrm>
            <a:off x="8330183" y="3758184"/>
            <a:ext cx="3008376" cy="667512"/>
          </a:xfrm>
          <a:prstGeom prst="rect">
            <a:avLst/>
          </a:prstGeom>
          <a:noFill/>
        </p:spPr>
        <p:txBody>
          <a:bodyPr wrap="square" lIns="0" tIns="18288" rIns="0" bIns="18288" anchor="ctr">
            <a:spAutoFit/>
          </a:bodyPr>
          <a:lstStyle/>
          <a:p>
            <a:pPr>
              <a:spcAft>
                <a:spcPts val="0"/>
              </a:spcAft>
              <a:defRPr sz="1620" b="0" i="0">
                <a:solidFill>
                  <a:srgbClr val="536276"/>
                </a:solidFill>
                <a:latin typeface="Aptos"/>
              </a:defRPr>
            </a:pPr>
            <a:r>
              <a:t>figuras, CSV y JSON generados localmente</a:t>
            </a:r>
          </a:p>
        </p:txBody>
      </p:sp>
      <p:sp>
        <p:nvSpPr>
          <p:cNvPr id="39" name="Rounded Rectangle 38"/>
          <p:cNvSpPr/>
          <p:nvPr/>
        </p:nvSpPr>
        <p:spPr>
          <a:xfrm>
            <a:off x="6208775" y="4663440"/>
            <a:ext cx="5340096" cy="86868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208775" y="4663440"/>
            <a:ext cx="73152" cy="8686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9943" y="4773168"/>
            <a:ext cx="1938528" cy="320040"/>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AGENTS.md</a:t>
            </a:r>
          </a:p>
        </p:txBody>
      </p:sp>
      <p:sp>
        <p:nvSpPr>
          <p:cNvPr id="42" name="TextBox 41"/>
          <p:cNvSpPr txBox="1"/>
          <p:nvPr/>
        </p:nvSpPr>
        <p:spPr>
          <a:xfrm>
            <a:off x="8330183" y="4745736"/>
            <a:ext cx="3008376" cy="667512"/>
          </a:xfrm>
          <a:prstGeom prst="rect">
            <a:avLst/>
          </a:prstGeom>
          <a:noFill/>
        </p:spPr>
        <p:txBody>
          <a:bodyPr wrap="square" lIns="0" tIns="18288" rIns="0" bIns="18288" anchor="ctr">
            <a:spAutoFit/>
          </a:bodyPr>
          <a:lstStyle/>
          <a:p>
            <a:pPr>
              <a:spcAft>
                <a:spcPts val="0"/>
              </a:spcAft>
              <a:defRPr sz="1620" b="0" i="0">
                <a:solidFill>
                  <a:srgbClr val="536276"/>
                </a:solidFill>
                <a:latin typeface="Aptos"/>
              </a:defRPr>
            </a:pPr>
            <a:r>
              <a:t>reglas para asistentes de programación</a:t>
            </a:r>
          </a:p>
        </p:txBody>
      </p:sp>
      <p:sp>
        <p:nvSpPr>
          <p:cNvPr id="43" name="TextBox 42"/>
          <p:cNvSpPr txBox="1"/>
          <p:nvPr/>
        </p:nvSpPr>
        <p:spPr>
          <a:xfrm>
            <a:off x="768096" y="5833872"/>
            <a:ext cx="10424160" cy="338328"/>
          </a:xfrm>
          <a:prstGeom prst="rect">
            <a:avLst/>
          </a:prstGeom>
          <a:noFill/>
        </p:spPr>
        <p:txBody>
          <a:bodyPr wrap="square" lIns="0" tIns="18288" rIns="0" bIns="18288" anchor="ctr">
            <a:spAutoFit/>
          </a:bodyPr>
          <a:lstStyle/>
          <a:p>
            <a:pPr>
              <a:spcAft>
                <a:spcPts val="0"/>
              </a:spcAft>
              <a:defRPr sz="1600" b="0" i="0">
                <a:solidFill>
                  <a:srgbClr val="2483BC"/>
                </a:solidFill>
                <a:latin typeface="Aptos"/>
              </a:defRPr>
            </a:pPr>
            <a:r>
              <a:t>El archivo src/network/data/ieee8500.json permite iniciar sin reconvertir los .dss.</a:t>
            </a:r>
          </a:p>
        </p:txBody>
      </p:sp>
      <p:sp>
        <p:nvSpPr>
          <p:cNvPr id="44" name="Rectangle 43"/>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README.md  ·  AGENTS.md  ·  results/README.md  ·  ONBOARDING.md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Datos IEEE, supuestos y limitaciones</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07</a:t>
            </a:r>
          </a:p>
        </p:txBody>
      </p:sp>
      <p:sp>
        <p:nvSpPr>
          <p:cNvPr id="11" name="Rounded Rectangle 10"/>
          <p:cNvSpPr/>
          <p:nvPr/>
        </p:nvSpPr>
        <p:spPr>
          <a:xfrm>
            <a:off x="685800" y="1682496"/>
            <a:ext cx="5294376" cy="184708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 y="1682496"/>
            <a:ext cx="100584" cy="1847088"/>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1832" y="1847088"/>
            <a:ext cx="4800600" cy="338328"/>
          </a:xfrm>
          <a:prstGeom prst="rect">
            <a:avLst/>
          </a:prstGeom>
          <a:noFill/>
        </p:spPr>
        <p:txBody>
          <a:bodyPr wrap="square" lIns="0" tIns="18288" rIns="0" bIns="18288" anchor="ctr">
            <a:spAutoFit/>
          </a:bodyPr>
          <a:lstStyle/>
          <a:p>
            <a:pPr>
              <a:spcAft>
                <a:spcPts val="0"/>
              </a:spcAft>
              <a:defRPr sz="1800" b="1" i="0">
                <a:solidFill>
                  <a:srgbClr val="00A89B"/>
                </a:solidFill>
                <a:latin typeface="Aptos"/>
              </a:defRPr>
            </a:pPr>
            <a:r>
              <a:t>IEEE / DATOS</a:t>
            </a:r>
          </a:p>
        </p:txBody>
      </p:sp>
      <p:sp>
        <p:nvSpPr>
          <p:cNvPr id="14" name="TextBox 13"/>
          <p:cNvSpPr txBox="1"/>
          <p:nvPr/>
        </p:nvSpPr>
        <p:spPr>
          <a:xfrm>
            <a:off x="932688" y="2304288"/>
            <a:ext cx="4727448" cy="356616"/>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data/ieee8500/source/</a:t>
            </a:r>
          </a:p>
        </p:txBody>
      </p:sp>
      <p:sp>
        <p:nvSpPr>
          <p:cNvPr id="15" name="TextBox 14"/>
          <p:cNvSpPr txBox="1"/>
          <p:nvPr/>
        </p:nvSpPr>
        <p:spPr>
          <a:xfrm>
            <a:off x="932688" y="2715768"/>
            <a:ext cx="4764024" cy="658368"/>
          </a:xfrm>
          <a:prstGeom prst="rect">
            <a:avLst/>
          </a:prstGeom>
          <a:noFill/>
        </p:spPr>
        <p:txBody>
          <a:bodyPr wrap="square" lIns="0" tIns="18288" rIns="0" bIns="18288" anchor="t">
            <a:spAutoFit/>
          </a:bodyPr>
          <a:lstStyle/>
          <a:p>
            <a:pPr>
              <a:spcAft>
                <a:spcPts val="0"/>
              </a:spcAft>
              <a:defRPr sz="1700" b="0" i="0">
                <a:solidFill>
                  <a:srgbClr val="536276"/>
                </a:solidFill>
                <a:latin typeface="Aptos"/>
              </a:defRPr>
            </a:pPr>
            <a:r>
              <a:t>15 archivos .dss originales; red convertida a pandapower.</a:t>
            </a:r>
          </a:p>
        </p:txBody>
      </p:sp>
      <p:sp>
        <p:nvSpPr>
          <p:cNvPr id="16" name="Rounded Rectangle 15"/>
          <p:cNvSpPr/>
          <p:nvPr/>
        </p:nvSpPr>
        <p:spPr>
          <a:xfrm>
            <a:off x="6199632" y="1682496"/>
            <a:ext cx="5294376" cy="184708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99632" y="1682496"/>
            <a:ext cx="100584" cy="1847088"/>
          </a:xfrm>
          <a:prstGeom prst="rect">
            <a:avLst/>
          </a:prstGeom>
          <a:solidFill>
            <a:srgbClr val="D96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55664" y="1847088"/>
            <a:ext cx="4800600" cy="338328"/>
          </a:xfrm>
          <a:prstGeom prst="rect">
            <a:avLst/>
          </a:prstGeom>
          <a:noFill/>
        </p:spPr>
        <p:txBody>
          <a:bodyPr wrap="square" lIns="0" tIns="18288" rIns="0" bIns="18288" anchor="ctr">
            <a:spAutoFit/>
          </a:bodyPr>
          <a:lstStyle/>
          <a:p>
            <a:pPr>
              <a:spcAft>
                <a:spcPts val="0"/>
              </a:spcAft>
              <a:defRPr sz="1800" b="1" i="0">
                <a:solidFill>
                  <a:srgbClr val="D96B3D"/>
                </a:solidFill>
                <a:latin typeface="Aptos"/>
              </a:defRPr>
            </a:pPr>
            <a:r>
              <a:t>SUPUESTOS</a:t>
            </a:r>
          </a:p>
        </p:txBody>
      </p:sp>
      <p:sp>
        <p:nvSpPr>
          <p:cNvPr id="19" name="TextBox 18"/>
          <p:cNvSpPr txBox="1"/>
          <p:nvPr/>
        </p:nvSpPr>
        <p:spPr>
          <a:xfrm>
            <a:off x="6446520" y="2304288"/>
            <a:ext cx="4727448" cy="356616"/>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configs/*.yaml</a:t>
            </a:r>
          </a:p>
        </p:txBody>
      </p:sp>
      <p:sp>
        <p:nvSpPr>
          <p:cNvPr id="20" name="TextBox 19"/>
          <p:cNvSpPr txBox="1"/>
          <p:nvPr/>
        </p:nvSpPr>
        <p:spPr>
          <a:xfrm>
            <a:off x="6446520" y="2715768"/>
            <a:ext cx="4764024" cy="658368"/>
          </a:xfrm>
          <a:prstGeom prst="rect">
            <a:avLst/>
          </a:prstGeom>
          <a:noFill/>
        </p:spPr>
        <p:txBody>
          <a:bodyPr wrap="square" lIns="0" tIns="18288" rIns="0" bIns="18288" anchor="t">
            <a:spAutoFit/>
          </a:bodyPr>
          <a:lstStyle/>
          <a:p>
            <a:pPr>
              <a:spcAft>
                <a:spcPts val="0"/>
              </a:spcAft>
              <a:defRPr sz="1700" b="0" i="0">
                <a:solidFill>
                  <a:srgbClr val="536276"/>
                </a:solidFill>
                <a:latin typeface="Aptos"/>
              </a:defRPr>
            </a:pPr>
            <a:r>
              <a:t>Flota, perfiles horarios, costos, zonificación y ubicación del BESS.</a:t>
            </a:r>
          </a:p>
        </p:txBody>
      </p:sp>
      <p:sp>
        <p:nvSpPr>
          <p:cNvPr id="21" name="Rounded Rectangle 20"/>
          <p:cNvSpPr/>
          <p:nvPr/>
        </p:nvSpPr>
        <p:spPr>
          <a:xfrm>
            <a:off x="685800" y="3712464"/>
            <a:ext cx="5294376" cy="184708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5800" y="3712464"/>
            <a:ext cx="100584" cy="1847088"/>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1832" y="3877056"/>
            <a:ext cx="4800600" cy="338328"/>
          </a:xfrm>
          <a:prstGeom prst="rect">
            <a:avLst/>
          </a:prstGeom>
          <a:noFill/>
        </p:spPr>
        <p:txBody>
          <a:bodyPr wrap="square" lIns="0" tIns="18288" rIns="0" bIns="18288" anchor="ctr">
            <a:spAutoFit/>
          </a:bodyPr>
          <a:lstStyle/>
          <a:p>
            <a:pPr>
              <a:spcAft>
                <a:spcPts val="0"/>
              </a:spcAft>
              <a:defRPr sz="1800" b="1" i="0">
                <a:solidFill>
                  <a:srgbClr val="2483BC"/>
                </a:solidFill>
                <a:latin typeface="Aptos"/>
              </a:defRPr>
            </a:pPr>
            <a:r>
              <a:t>SALIDAS</a:t>
            </a:r>
          </a:p>
        </p:txBody>
      </p:sp>
      <p:sp>
        <p:nvSpPr>
          <p:cNvPr id="24" name="TextBox 23"/>
          <p:cNvSpPr txBox="1"/>
          <p:nvPr/>
        </p:nvSpPr>
        <p:spPr>
          <a:xfrm>
            <a:off x="932688" y="4334256"/>
            <a:ext cx="4727448" cy="356616"/>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results/ieee8500/</a:t>
            </a:r>
          </a:p>
        </p:txBody>
      </p:sp>
      <p:sp>
        <p:nvSpPr>
          <p:cNvPr id="25" name="TextBox 24"/>
          <p:cNvSpPr txBox="1"/>
          <p:nvPr/>
        </p:nvSpPr>
        <p:spPr>
          <a:xfrm>
            <a:off x="932688" y="4745736"/>
            <a:ext cx="4764024" cy="658368"/>
          </a:xfrm>
          <a:prstGeom prst="rect">
            <a:avLst/>
          </a:prstGeom>
          <a:noFill/>
        </p:spPr>
        <p:txBody>
          <a:bodyPr wrap="square" lIns="0" tIns="18288" rIns="0" bIns="18288" anchor="t">
            <a:spAutoFit/>
          </a:bodyPr>
          <a:lstStyle/>
          <a:p>
            <a:pPr>
              <a:spcAft>
                <a:spcPts val="0"/>
              </a:spcAft>
              <a:defRPr sz="1700" b="0" i="0">
                <a:solidFill>
                  <a:srgbClr val="536276"/>
                </a:solidFill>
                <a:latin typeface="Aptos"/>
              </a:defRPr>
            </a:pPr>
            <a:r>
              <a:t>Figuras e indicadores reproducidos mediante comandos.</a:t>
            </a:r>
          </a:p>
        </p:txBody>
      </p:sp>
      <p:sp>
        <p:nvSpPr>
          <p:cNvPr id="26" name="Rounded Rectangle 25"/>
          <p:cNvSpPr/>
          <p:nvPr/>
        </p:nvSpPr>
        <p:spPr>
          <a:xfrm>
            <a:off x="6199632" y="3712464"/>
            <a:ext cx="5294376" cy="184708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99632" y="3712464"/>
            <a:ext cx="100584" cy="1847088"/>
          </a:xfrm>
          <a:prstGeom prst="rect">
            <a:avLst/>
          </a:prstGeom>
          <a:solidFill>
            <a:srgbClr val="665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55664" y="3877056"/>
            <a:ext cx="4800600" cy="338328"/>
          </a:xfrm>
          <a:prstGeom prst="rect">
            <a:avLst/>
          </a:prstGeom>
          <a:noFill/>
        </p:spPr>
        <p:txBody>
          <a:bodyPr wrap="square" lIns="0" tIns="18288" rIns="0" bIns="18288" anchor="ctr">
            <a:spAutoFit/>
          </a:bodyPr>
          <a:lstStyle/>
          <a:p>
            <a:pPr>
              <a:spcAft>
                <a:spcPts val="0"/>
              </a:spcAft>
              <a:defRPr sz="1800" b="1" i="0">
                <a:solidFill>
                  <a:srgbClr val="665EC5"/>
                </a:solidFill>
                <a:latin typeface="Aptos"/>
              </a:defRPr>
            </a:pPr>
            <a:r>
              <a:t>HONDURAS</a:t>
            </a:r>
          </a:p>
        </p:txBody>
      </p:sp>
      <p:sp>
        <p:nvSpPr>
          <p:cNvPr id="29" name="TextBox 28"/>
          <p:cNvSpPr txBox="1"/>
          <p:nvPr/>
        </p:nvSpPr>
        <p:spPr>
          <a:xfrm>
            <a:off x="6446520" y="4334256"/>
            <a:ext cx="4727448" cy="356616"/>
          </a:xfrm>
          <a:prstGeom prst="rect">
            <a:avLst/>
          </a:prstGeom>
          <a:noFill/>
        </p:spPr>
        <p:txBody>
          <a:bodyPr wrap="square" lIns="0" tIns="18288" rIns="0" bIns="18288" anchor="ctr">
            <a:spAutoFit/>
          </a:bodyPr>
          <a:lstStyle/>
          <a:p>
            <a:pPr>
              <a:spcAft>
                <a:spcPts val="0"/>
              </a:spcAft>
              <a:defRPr sz="1700" b="1" i="0">
                <a:solidFill>
                  <a:srgbClr val="0A1428"/>
                </a:solidFill>
                <a:latin typeface="Consolas"/>
              </a:defRPr>
            </a:pPr>
            <a:r>
              <a:t>data/honduras/templates/</a:t>
            </a:r>
          </a:p>
        </p:txBody>
      </p:sp>
      <p:sp>
        <p:nvSpPr>
          <p:cNvPr id="30" name="TextBox 29"/>
          <p:cNvSpPr txBox="1"/>
          <p:nvPr/>
        </p:nvSpPr>
        <p:spPr>
          <a:xfrm>
            <a:off x="6446520" y="4745736"/>
            <a:ext cx="4764024" cy="658368"/>
          </a:xfrm>
          <a:prstGeom prst="rect">
            <a:avLst/>
          </a:prstGeom>
          <a:noFill/>
        </p:spPr>
        <p:txBody>
          <a:bodyPr wrap="square" lIns="0" tIns="18288" rIns="0" bIns="18288" anchor="t">
            <a:spAutoFit/>
          </a:bodyPr>
          <a:lstStyle/>
          <a:p>
            <a:pPr>
              <a:spcAft>
                <a:spcPts val="0"/>
              </a:spcAft>
              <a:defRPr sz="1700" b="0" i="0">
                <a:solidFill>
                  <a:srgbClr val="536276"/>
                </a:solidFill>
                <a:latin typeface="Aptos"/>
              </a:defRPr>
            </a:pPr>
            <a:r>
              <a:t>Plantilla XLSX vacía; todavía no se proporcionaron datos reales.</a:t>
            </a:r>
          </a:p>
        </p:txBody>
      </p:sp>
      <p:sp>
        <p:nvSpPr>
          <p:cNvPr id="31" name="TextBox 30"/>
          <p:cNvSpPr txBox="1"/>
          <p:nvPr/>
        </p:nvSpPr>
        <p:spPr>
          <a:xfrm>
            <a:off x="777240" y="5861304"/>
            <a:ext cx="10789920" cy="384048"/>
          </a:xfrm>
          <a:prstGeom prst="rect">
            <a:avLst/>
          </a:prstGeom>
          <a:noFill/>
        </p:spPr>
        <p:txBody>
          <a:bodyPr wrap="square" lIns="0" tIns="18288" rIns="0" bIns="18288" anchor="ctr">
            <a:spAutoFit/>
          </a:bodyPr>
          <a:lstStyle/>
          <a:p>
            <a:pPr>
              <a:spcAft>
                <a:spcPts val="0"/>
              </a:spcAft>
              <a:defRPr sz="1700" b="1" i="0">
                <a:solidFill>
                  <a:srgbClr val="D96B3D"/>
                </a:solidFill>
                <a:latin typeface="Aptos"/>
              </a:defRPr>
            </a:pPr>
            <a:r>
              <a:t>No presentar parámetros sintéticos como mediciones de la distribuidora ni como normas hondureñas.</a:t>
            </a:r>
          </a:p>
        </p:txBody>
      </p:sp>
      <p:sp>
        <p:nvSpPr>
          <p:cNvPr id="32" name="Rectangle 31"/>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data/ieee8500/README.md  ·  configs/ieee8500.yaml  ·  configs/evcs.yaml  ·  configs/bess.yaml  ·  data/honduras/README.md  ·  docs/validation.md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Arquitectura: módulos independientes</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GUÍA DE CÓDIGO</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08</a:t>
            </a:r>
          </a:p>
        </p:txBody>
      </p:sp>
      <p:sp>
        <p:nvSpPr>
          <p:cNvPr id="11" name="Rounded Rectangle 10"/>
          <p:cNvSpPr/>
          <p:nvPr/>
        </p:nvSpPr>
        <p:spPr>
          <a:xfrm>
            <a:off x="676656" y="1645920"/>
            <a:ext cx="10808208" cy="2999232"/>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43400" y="1792224"/>
            <a:ext cx="3493008" cy="621792"/>
          </a:xfrm>
          <a:prstGeom prst="roundRect">
            <a:avLst>
              <a:gd name="adj" fmla="val 10000"/>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07992" y="1901952"/>
            <a:ext cx="3191256" cy="356616"/>
          </a:xfrm>
          <a:prstGeom prst="rect">
            <a:avLst/>
          </a:prstGeom>
          <a:noFill/>
        </p:spPr>
        <p:txBody>
          <a:bodyPr wrap="square" lIns="0" tIns="18288" rIns="0" bIns="18288" anchor="ctr">
            <a:spAutoFit/>
          </a:bodyPr>
          <a:lstStyle/>
          <a:p>
            <a:pPr algn="ctr">
              <a:spcAft>
                <a:spcPts val="0"/>
              </a:spcAft>
              <a:defRPr sz="1800" b="1" i="0">
                <a:solidFill>
                  <a:srgbClr val="FFFFFF"/>
                </a:solidFill>
                <a:latin typeface="Aptos"/>
              </a:defRPr>
            </a:pPr>
            <a:r>
              <a:t>COORDINADOR S0–S4</a:t>
            </a:r>
          </a:p>
        </p:txBody>
      </p:sp>
      <p:sp>
        <p:nvSpPr>
          <p:cNvPr id="14" name="Rounded Rectangle 13"/>
          <p:cNvSpPr/>
          <p:nvPr/>
        </p:nvSpPr>
        <p:spPr>
          <a:xfrm>
            <a:off x="896112" y="2862072"/>
            <a:ext cx="3300984" cy="1271016"/>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96112" y="2862072"/>
            <a:ext cx="91440" cy="127101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2999232"/>
            <a:ext cx="2907792" cy="329184"/>
          </a:xfrm>
          <a:prstGeom prst="rect">
            <a:avLst/>
          </a:prstGeom>
          <a:noFill/>
        </p:spPr>
        <p:txBody>
          <a:bodyPr wrap="square" lIns="0" tIns="18288" rIns="0" bIns="18288" anchor="ctr">
            <a:spAutoFit/>
          </a:bodyPr>
          <a:lstStyle/>
          <a:p>
            <a:pPr>
              <a:spcAft>
                <a:spcPts val="0"/>
              </a:spcAft>
              <a:defRPr sz="2000" b="1" i="0">
                <a:solidFill>
                  <a:srgbClr val="00A89B"/>
                </a:solidFill>
                <a:latin typeface="Aptos"/>
              </a:defRPr>
            </a:pPr>
            <a:r>
              <a:t>EVCS</a:t>
            </a:r>
          </a:p>
        </p:txBody>
      </p:sp>
      <p:sp>
        <p:nvSpPr>
          <p:cNvPr id="17" name="TextBox 16"/>
          <p:cNvSpPr txBox="1"/>
          <p:nvPr/>
        </p:nvSpPr>
        <p:spPr>
          <a:xfrm>
            <a:off x="1097280" y="3374136"/>
            <a:ext cx="2898648" cy="640080"/>
          </a:xfrm>
          <a:prstGeom prst="rect">
            <a:avLst/>
          </a:prstGeom>
          <a:noFill/>
        </p:spPr>
        <p:txBody>
          <a:bodyPr wrap="square" lIns="0" tIns="18288" rIns="0" bIns="18288" anchor="ctr">
            <a:spAutoFit/>
          </a:bodyPr>
          <a:lstStyle/>
          <a:p>
            <a:pPr>
              <a:spcAft>
                <a:spcPts val="0"/>
              </a:spcAft>
              <a:defRPr sz="1390" b="0" i="0">
                <a:solidFill>
                  <a:srgbClr val="0A1428"/>
                </a:solidFill>
                <a:latin typeface="Consolas"/>
              </a:defRPr>
            </a:pPr>
            <a:r>
              <a:t>evcs.runner.run_integrated(...)</a:t>
            </a:r>
            <a:br/>
            <a:r>
              <a:t>perfil de recarga</a:t>
            </a:r>
          </a:p>
        </p:txBody>
      </p:sp>
      <p:sp>
        <p:nvSpPr>
          <p:cNvPr id="18" name="TextBox 17"/>
          <p:cNvSpPr txBox="1"/>
          <p:nvPr/>
        </p:nvSpPr>
        <p:spPr>
          <a:xfrm>
            <a:off x="2368296" y="4187952"/>
            <a:ext cx="420624" cy="310896"/>
          </a:xfrm>
          <a:prstGeom prst="rect">
            <a:avLst/>
          </a:prstGeom>
          <a:noFill/>
        </p:spPr>
        <p:txBody>
          <a:bodyPr wrap="square" lIns="0" tIns="18288" rIns="0" bIns="18288" anchor="ctr">
            <a:spAutoFit/>
          </a:bodyPr>
          <a:lstStyle/>
          <a:p>
            <a:pPr algn="ctr">
              <a:spcAft>
                <a:spcPts val="0"/>
              </a:spcAft>
              <a:defRPr sz="2300" b="1" i="0">
                <a:solidFill>
                  <a:srgbClr val="00A89B"/>
                </a:solidFill>
                <a:latin typeface="Aptos"/>
              </a:defRPr>
            </a:pPr>
            <a:r>
              <a:t>↓</a:t>
            </a:r>
          </a:p>
        </p:txBody>
      </p:sp>
      <p:sp>
        <p:nvSpPr>
          <p:cNvPr id="19" name="Rounded Rectangle 18"/>
          <p:cNvSpPr/>
          <p:nvPr/>
        </p:nvSpPr>
        <p:spPr>
          <a:xfrm>
            <a:off x="4645152" y="2862072"/>
            <a:ext cx="3300984" cy="1271016"/>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645152" y="2862072"/>
            <a:ext cx="91440" cy="1271016"/>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28032" y="2999232"/>
            <a:ext cx="2907792" cy="329184"/>
          </a:xfrm>
          <a:prstGeom prst="rect">
            <a:avLst/>
          </a:prstGeom>
          <a:noFill/>
        </p:spPr>
        <p:txBody>
          <a:bodyPr wrap="square" lIns="0" tIns="18288" rIns="0" bIns="18288" anchor="ctr">
            <a:spAutoFit/>
          </a:bodyPr>
          <a:lstStyle/>
          <a:p>
            <a:pPr>
              <a:spcAft>
                <a:spcPts val="0"/>
              </a:spcAft>
              <a:defRPr sz="2000" b="1" i="0">
                <a:solidFill>
                  <a:srgbClr val="2483BC"/>
                </a:solidFill>
                <a:latin typeface="Aptos"/>
              </a:defRPr>
            </a:pPr>
            <a:r>
              <a:t>V2G</a:t>
            </a:r>
          </a:p>
        </p:txBody>
      </p:sp>
      <p:sp>
        <p:nvSpPr>
          <p:cNvPr id="22" name="TextBox 21"/>
          <p:cNvSpPr txBox="1"/>
          <p:nvPr/>
        </p:nvSpPr>
        <p:spPr>
          <a:xfrm>
            <a:off x="4846320" y="3374136"/>
            <a:ext cx="2898648" cy="640080"/>
          </a:xfrm>
          <a:prstGeom prst="rect">
            <a:avLst/>
          </a:prstGeom>
          <a:noFill/>
        </p:spPr>
        <p:txBody>
          <a:bodyPr wrap="square" lIns="0" tIns="18288" rIns="0" bIns="18288" anchor="ctr">
            <a:spAutoFit/>
          </a:bodyPr>
          <a:lstStyle/>
          <a:p>
            <a:pPr>
              <a:spcAft>
                <a:spcPts val="0"/>
              </a:spcAft>
              <a:defRPr sz="1390" b="0" i="0">
                <a:solidFill>
                  <a:srgbClr val="0A1428"/>
                </a:solidFill>
                <a:latin typeface="Consolas"/>
              </a:defRPr>
            </a:pPr>
            <a:r>
              <a:t>v2g.runner.run_integrated(...)</a:t>
            </a:r>
            <a:br/>
            <a:r>
              <a:t>perfil de vehículos</a:t>
            </a:r>
          </a:p>
        </p:txBody>
      </p:sp>
      <p:sp>
        <p:nvSpPr>
          <p:cNvPr id="23" name="TextBox 22"/>
          <p:cNvSpPr txBox="1"/>
          <p:nvPr/>
        </p:nvSpPr>
        <p:spPr>
          <a:xfrm>
            <a:off x="6117336" y="4187952"/>
            <a:ext cx="420624" cy="310896"/>
          </a:xfrm>
          <a:prstGeom prst="rect">
            <a:avLst/>
          </a:prstGeom>
          <a:noFill/>
        </p:spPr>
        <p:txBody>
          <a:bodyPr wrap="square" lIns="0" tIns="18288" rIns="0" bIns="18288" anchor="ctr">
            <a:spAutoFit/>
          </a:bodyPr>
          <a:lstStyle/>
          <a:p>
            <a:pPr algn="ctr">
              <a:spcAft>
                <a:spcPts val="0"/>
              </a:spcAft>
              <a:defRPr sz="2300" b="1" i="0">
                <a:solidFill>
                  <a:srgbClr val="00A89B"/>
                </a:solidFill>
                <a:latin typeface="Aptos"/>
              </a:defRPr>
            </a:pPr>
            <a:r>
              <a:t>↓</a:t>
            </a:r>
          </a:p>
        </p:txBody>
      </p:sp>
      <p:sp>
        <p:nvSpPr>
          <p:cNvPr id="24" name="Rounded Rectangle 23"/>
          <p:cNvSpPr/>
          <p:nvPr/>
        </p:nvSpPr>
        <p:spPr>
          <a:xfrm>
            <a:off x="8394192" y="2862072"/>
            <a:ext cx="3300984" cy="1271016"/>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394192" y="2862072"/>
            <a:ext cx="91440" cy="1271016"/>
          </a:xfrm>
          <a:prstGeom prst="rect">
            <a:avLst/>
          </a:prstGeom>
          <a:solidFill>
            <a:srgbClr val="665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77072" y="2999232"/>
            <a:ext cx="2907792" cy="329184"/>
          </a:xfrm>
          <a:prstGeom prst="rect">
            <a:avLst/>
          </a:prstGeom>
          <a:noFill/>
        </p:spPr>
        <p:txBody>
          <a:bodyPr wrap="square" lIns="0" tIns="18288" rIns="0" bIns="18288" anchor="ctr">
            <a:spAutoFit/>
          </a:bodyPr>
          <a:lstStyle/>
          <a:p>
            <a:pPr>
              <a:spcAft>
                <a:spcPts val="0"/>
              </a:spcAft>
              <a:defRPr sz="2000" b="1" i="0">
                <a:solidFill>
                  <a:srgbClr val="665EC5"/>
                </a:solidFill>
                <a:latin typeface="Aptos"/>
              </a:defRPr>
            </a:pPr>
            <a:r>
              <a:t>BESS</a:t>
            </a:r>
          </a:p>
        </p:txBody>
      </p:sp>
      <p:sp>
        <p:nvSpPr>
          <p:cNvPr id="27" name="TextBox 26"/>
          <p:cNvSpPr txBox="1"/>
          <p:nvPr/>
        </p:nvSpPr>
        <p:spPr>
          <a:xfrm>
            <a:off x="8595360" y="3374136"/>
            <a:ext cx="2898648" cy="640080"/>
          </a:xfrm>
          <a:prstGeom prst="rect">
            <a:avLst/>
          </a:prstGeom>
          <a:noFill/>
        </p:spPr>
        <p:txBody>
          <a:bodyPr wrap="square" lIns="0" tIns="18288" rIns="0" bIns="18288" anchor="ctr">
            <a:spAutoFit/>
          </a:bodyPr>
          <a:lstStyle/>
          <a:p>
            <a:pPr>
              <a:spcAft>
                <a:spcPts val="0"/>
              </a:spcAft>
              <a:defRPr sz="1390" b="0" i="0">
                <a:solidFill>
                  <a:srgbClr val="0A1428"/>
                </a:solidFill>
                <a:latin typeface="Consolas"/>
              </a:defRPr>
            </a:pPr>
            <a:r>
              <a:t>bess.runner.run_integrated(...)</a:t>
            </a:r>
            <a:br/>
            <a:r>
              <a:t>perfil de batería</a:t>
            </a:r>
          </a:p>
        </p:txBody>
      </p:sp>
      <p:sp>
        <p:nvSpPr>
          <p:cNvPr id="28" name="TextBox 27"/>
          <p:cNvSpPr txBox="1"/>
          <p:nvPr/>
        </p:nvSpPr>
        <p:spPr>
          <a:xfrm>
            <a:off x="9866376" y="4187952"/>
            <a:ext cx="420624" cy="310896"/>
          </a:xfrm>
          <a:prstGeom prst="rect">
            <a:avLst/>
          </a:prstGeom>
          <a:noFill/>
        </p:spPr>
        <p:txBody>
          <a:bodyPr wrap="square" lIns="0" tIns="18288" rIns="0" bIns="18288" anchor="ctr">
            <a:spAutoFit/>
          </a:bodyPr>
          <a:lstStyle/>
          <a:p>
            <a:pPr algn="ctr">
              <a:spcAft>
                <a:spcPts val="0"/>
              </a:spcAft>
              <a:defRPr sz="2300" b="1" i="0">
                <a:solidFill>
                  <a:srgbClr val="00A89B"/>
                </a:solidFill>
                <a:latin typeface="Aptos"/>
              </a:defRPr>
            </a:pPr>
            <a:r>
              <a:t>↓</a:t>
            </a:r>
          </a:p>
        </p:txBody>
      </p:sp>
      <p:sp>
        <p:nvSpPr>
          <p:cNvPr id="29" name="TextBox 28"/>
          <p:cNvSpPr txBox="1"/>
          <p:nvPr/>
        </p:nvSpPr>
        <p:spPr>
          <a:xfrm>
            <a:off x="859536" y="4791456"/>
            <a:ext cx="10469880" cy="521207"/>
          </a:xfrm>
          <a:prstGeom prst="rect">
            <a:avLst/>
          </a:prstGeom>
          <a:noFill/>
        </p:spPr>
        <p:txBody>
          <a:bodyPr wrap="square" lIns="0" tIns="18288" rIns="0" bIns="18288" anchor="ctr">
            <a:spAutoFit/>
          </a:bodyPr>
          <a:lstStyle/>
          <a:p>
            <a:pPr>
              <a:spcAft>
                <a:spcPts val="0"/>
              </a:spcAft>
              <a:defRPr sz="1800" b="1" i="0">
                <a:solidFill>
                  <a:srgbClr val="0A1428"/>
                </a:solidFill>
                <a:latin typeface="Aptos"/>
              </a:defRPr>
            </a:pPr>
            <a:r>
              <a:t>EVCS → V2G → BESS: composición coherente de perfiles antes del flujo trifásico</a:t>
            </a:r>
          </a:p>
        </p:txBody>
      </p:sp>
      <p:sp>
        <p:nvSpPr>
          <p:cNvPr id="30" name="Rectangle 29"/>
          <p:cNvSpPr/>
          <p:nvPr/>
        </p:nvSpPr>
        <p:spPr>
          <a:xfrm>
            <a:off x="932688" y="5637276"/>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33856" y="5449824"/>
            <a:ext cx="10131552" cy="288036"/>
          </a:xfrm>
          <a:prstGeom prst="rect">
            <a:avLst/>
          </a:prstGeom>
          <a:noFill/>
        </p:spPr>
        <p:txBody>
          <a:bodyPr wrap="square" lIns="0" tIns="18288" rIns="0" bIns="18288" anchor="ctr">
            <a:spAutoFit/>
          </a:bodyPr>
          <a:lstStyle/>
          <a:p>
            <a:pPr>
              <a:spcAft>
                <a:spcPts val="0"/>
              </a:spcAft>
              <a:defRPr sz="1660" b="0" i="0">
                <a:solidFill>
                  <a:srgbClr val="182538"/>
                </a:solidFill>
                <a:latin typeface="Aptos"/>
              </a:defRPr>
            </a:pPr>
            <a:r>
              <a:t>Cada módulo entrega (Profile, tablas), con activos y tiempos trazables.</a:t>
            </a:r>
          </a:p>
        </p:txBody>
      </p:sp>
      <p:sp>
        <p:nvSpPr>
          <p:cNvPr id="32" name="Rectangle 31"/>
          <p:cNvSpPr/>
          <p:nvPr/>
        </p:nvSpPr>
        <p:spPr>
          <a:xfrm>
            <a:off x="932688" y="5966460"/>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33856" y="5779008"/>
            <a:ext cx="10131552" cy="288036"/>
          </a:xfrm>
          <a:prstGeom prst="rect">
            <a:avLst/>
          </a:prstGeom>
          <a:noFill/>
        </p:spPr>
        <p:txBody>
          <a:bodyPr wrap="square" lIns="0" tIns="18288" rIns="0" bIns="18288" anchor="ctr">
            <a:spAutoFit/>
          </a:bodyPr>
          <a:lstStyle/>
          <a:p>
            <a:pPr>
              <a:spcAft>
                <a:spcPts val="0"/>
              </a:spcAft>
              <a:defRPr sz="1660" b="0" i="0">
                <a:solidFill>
                  <a:srgbClr val="182538"/>
                </a:solidFill>
                <a:latin typeface="Aptos"/>
              </a:defRPr>
            </a:pPr>
            <a:r>
              <a:t>Nueva estrategia: strategies.py → STRATEGIES → strategy: en YAML.</a:t>
            </a:r>
          </a:p>
        </p:txBody>
      </p:sp>
      <p:sp>
        <p:nvSpPr>
          <p:cNvPr id="34" name="Rectangle 33"/>
          <p:cNvSpPr/>
          <p:nvPr/>
        </p:nvSpPr>
        <p:spPr>
          <a:xfrm>
            <a:off x="932688" y="6295644"/>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33856" y="6108192"/>
            <a:ext cx="10131552" cy="288036"/>
          </a:xfrm>
          <a:prstGeom prst="rect">
            <a:avLst/>
          </a:prstGeom>
          <a:noFill/>
        </p:spPr>
        <p:txBody>
          <a:bodyPr wrap="square" lIns="0" tIns="18288" rIns="0" bIns="18288" anchor="ctr">
            <a:spAutoFit/>
          </a:bodyPr>
          <a:lstStyle/>
          <a:p>
            <a:pPr>
              <a:spcAft>
                <a:spcPts val="0"/>
              </a:spcAft>
              <a:defRPr sz="1660" b="0" i="0">
                <a:solidFill>
                  <a:srgbClr val="182538"/>
                </a:solidFill>
                <a:latin typeface="Aptos"/>
              </a:defRPr>
            </a:pPr>
            <a:r>
              <a:t>Convención: positivo inyecta a la red; negativo representa consumo.</a:t>
            </a:r>
          </a:p>
        </p:txBody>
      </p:sp>
      <p:sp>
        <p:nvSpPr>
          <p:cNvPr id="36" name="Rectangle 35"/>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src/integration/coordinator.py  ·  src/{evcs,bess,v2g}/runner.py  ·  src/{evcs,bess,v2g}/strategies.py  ·  docs/collaboration_guide.md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Qué ejecutar y cuánto demora</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GUÍA DE CÓDIGO</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09</a:t>
            </a:r>
          </a:p>
        </p:txBody>
      </p:sp>
      <p:sp>
        <p:nvSpPr>
          <p:cNvPr id="11" name="Rounded Rectangle 10"/>
          <p:cNvSpPr/>
          <p:nvPr/>
        </p:nvSpPr>
        <p:spPr>
          <a:xfrm>
            <a:off x="658368" y="1627632"/>
            <a:ext cx="10789920" cy="384048"/>
          </a:xfrm>
          <a:prstGeom prst="roundRect">
            <a:avLst>
              <a:gd name="adj" fmla="val 10000"/>
            </a:avLst>
          </a:prstGeom>
          <a:solidFill>
            <a:srgbClr val="13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 y="1645920"/>
            <a:ext cx="2633472" cy="310896"/>
          </a:xfrm>
          <a:prstGeom prst="rect">
            <a:avLst/>
          </a:prstGeom>
          <a:noFill/>
        </p:spPr>
        <p:txBody>
          <a:bodyPr wrap="square" lIns="0" tIns="18288" rIns="0" bIns="18288" anchor="ctr">
            <a:spAutoFit/>
          </a:bodyPr>
          <a:lstStyle/>
          <a:p>
            <a:pPr>
              <a:spcAft>
                <a:spcPts val="0"/>
              </a:spcAft>
              <a:defRPr sz="1360" b="1" i="0">
                <a:solidFill>
                  <a:srgbClr val="FFFFFF"/>
                </a:solidFill>
                <a:latin typeface="Aptos"/>
              </a:defRPr>
            </a:pPr>
            <a:r>
              <a:t>TAREA</a:t>
            </a:r>
          </a:p>
        </p:txBody>
      </p:sp>
      <p:sp>
        <p:nvSpPr>
          <p:cNvPr id="13" name="TextBox 12"/>
          <p:cNvSpPr txBox="1"/>
          <p:nvPr/>
        </p:nvSpPr>
        <p:spPr>
          <a:xfrm>
            <a:off x="3502152" y="1645920"/>
            <a:ext cx="6144768" cy="310896"/>
          </a:xfrm>
          <a:prstGeom prst="rect">
            <a:avLst/>
          </a:prstGeom>
          <a:noFill/>
        </p:spPr>
        <p:txBody>
          <a:bodyPr wrap="square" lIns="0" tIns="18288" rIns="0" bIns="18288" anchor="ctr">
            <a:spAutoFit/>
          </a:bodyPr>
          <a:lstStyle/>
          <a:p>
            <a:pPr>
              <a:spcAft>
                <a:spcPts val="0"/>
              </a:spcAft>
              <a:defRPr sz="1360" b="1" i="0">
                <a:solidFill>
                  <a:srgbClr val="FFFFFF"/>
                </a:solidFill>
                <a:latin typeface="Aptos"/>
              </a:defRPr>
            </a:pPr>
            <a:r>
              <a:t>COMANDO</a:t>
            </a:r>
          </a:p>
        </p:txBody>
      </p:sp>
      <p:sp>
        <p:nvSpPr>
          <p:cNvPr id="14" name="TextBox 13"/>
          <p:cNvSpPr txBox="1"/>
          <p:nvPr/>
        </p:nvSpPr>
        <p:spPr>
          <a:xfrm>
            <a:off x="9802368" y="1645920"/>
            <a:ext cx="1426464" cy="310896"/>
          </a:xfrm>
          <a:prstGeom prst="rect">
            <a:avLst/>
          </a:prstGeom>
          <a:noFill/>
        </p:spPr>
        <p:txBody>
          <a:bodyPr wrap="square" lIns="0" tIns="18288" rIns="0" bIns="18288" anchor="ctr">
            <a:spAutoFit/>
          </a:bodyPr>
          <a:lstStyle/>
          <a:p>
            <a:pPr>
              <a:spcAft>
                <a:spcPts val="0"/>
              </a:spcAft>
              <a:defRPr sz="1360" b="1" i="0">
                <a:solidFill>
                  <a:srgbClr val="FFFFFF"/>
                </a:solidFill>
                <a:latin typeface="Aptos"/>
              </a:defRPr>
            </a:pPr>
            <a:r>
              <a:t>TIEMPO</a:t>
            </a:r>
          </a:p>
        </p:txBody>
      </p:sp>
      <p:sp>
        <p:nvSpPr>
          <p:cNvPr id="15" name="Rounded Rectangle 14"/>
          <p:cNvSpPr/>
          <p:nvPr/>
        </p:nvSpPr>
        <p:spPr>
          <a:xfrm>
            <a:off x="658368" y="2093976"/>
            <a:ext cx="10789920" cy="42976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2148840"/>
            <a:ext cx="2697480" cy="320040"/>
          </a:xfrm>
          <a:prstGeom prst="rect">
            <a:avLst/>
          </a:prstGeom>
          <a:noFill/>
        </p:spPr>
        <p:txBody>
          <a:bodyPr wrap="square" lIns="0" tIns="18288" rIns="0" bIns="18288" anchor="ctr">
            <a:spAutoFit/>
          </a:bodyPr>
          <a:lstStyle/>
          <a:p>
            <a:pPr>
              <a:spcAft>
                <a:spcPts val="0"/>
              </a:spcAft>
              <a:defRPr sz="1760" b="1" i="0">
                <a:solidFill>
                  <a:srgbClr val="0A1428"/>
                </a:solidFill>
                <a:latin typeface="Aptos"/>
              </a:defRPr>
            </a:pPr>
            <a:r>
              <a:t>Módulo independiente</a:t>
            </a:r>
          </a:p>
        </p:txBody>
      </p:sp>
      <p:sp>
        <p:nvSpPr>
          <p:cNvPr id="17" name="TextBox 16"/>
          <p:cNvSpPr txBox="1"/>
          <p:nvPr/>
        </p:nvSpPr>
        <p:spPr>
          <a:xfrm>
            <a:off x="3483864" y="2121408"/>
            <a:ext cx="6108192" cy="384048"/>
          </a:xfrm>
          <a:prstGeom prst="rect">
            <a:avLst/>
          </a:prstGeom>
          <a:noFill/>
        </p:spPr>
        <p:txBody>
          <a:bodyPr wrap="square" lIns="0" tIns="18288" rIns="0" bIns="18288" anchor="ctr">
            <a:spAutoFit/>
          </a:bodyPr>
          <a:lstStyle/>
          <a:p>
            <a:pPr>
              <a:spcAft>
                <a:spcPts val="0"/>
              </a:spcAft>
              <a:defRPr sz="1630" b="0" i="0">
                <a:solidFill>
                  <a:srgbClr val="536276"/>
                </a:solidFill>
                <a:latin typeface="Consolas"/>
              </a:defRPr>
            </a:pPr>
            <a:r>
              <a:t>python -m bess</a:t>
            </a:r>
          </a:p>
        </p:txBody>
      </p:sp>
      <p:sp>
        <p:nvSpPr>
          <p:cNvPr id="18" name="TextBox 17"/>
          <p:cNvSpPr txBox="1"/>
          <p:nvPr/>
        </p:nvSpPr>
        <p:spPr>
          <a:xfrm>
            <a:off x="9784080" y="2139696"/>
            <a:ext cx="1408176" cy="338328"/>
          </a:xfrm>
          <a:prstGeom prst="rect">
            <a:avLst/>
          </a:prstGeom>
          <a:noFill/>
        </p:spPr>
        <p:txBody>
          <a:bodyPr wrap="square" lIns="0" tIns="18288" rIns="0" bIns="18288" anchor="ctr">
            <a:spAutoFit/>
          </a:bodyPr>
          <a:lstStyle/>
          <a:p>
            <a:pPr>
              <a:spcAft>
                <a:spcPts val="0"/>
              </a:spcAft>
              <a:defRPr sz="1730" b="1" i="0">
                <a:solidFill>
                  <a:srgbClr val="00A89B"/>
                </a:solidFill>
                <a:latin typeface="Aptos"/>
              </a:defRPr>
            </a:pPr>
            <a:r>
              <a:t>segundos</a:t>
            </a:r>
          </a:p>
        </p:txBody>
      </p:sp>
      <p:sp>
        <p:nvSpPr>
          <p:cNvPr id="19" name="Rounded Rectangle 18"/>
          <p:cNvSpPr/>
          <p:nvPr/>
        </p:nvSpPr>
        <p:spPr>
          <a:xfrm>
            <a:off x="658368" y="2551176"/>
            <a:ext cx="10789920" cy="429768"/>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 y="2606040"/>
            <a:ext cx="2697480" cy="320040"/>
          </a:xfrm>
          <a:prstGeom prst="rect">
            <a:avLst/>
          </a:prstGeom>
          <a:noFill/>
        </p:spPr>
        <p:txBody>
          <a:bodyPr wrap="square" lIns="0" tIns="18288" rIns="0" bIns="18288" anchor="ctr">
            <a:spAutoFit/>
          </a:bodyPr>
          <a:lstStyle/>
          <a:p>
            <a:pPr>
              <a:spcAft>
                <a:spcPts val="0"/>
              </a:spcAft>
              <a:defRPr sz="1760" b="1" i="0">
                <a:solidFill>
                  <a:srgbClr val="0A1428"/>
                </a:solidFill>
                <a:latin typeface="Aptos"/>
              </a:defRPr>
            </a:pPr>
            <a:r>
              <a:t>Pruebas seleccionadas</a:t>
            </a:r>
          </a:p>
        </p:txBody>
      </p:sp>
      <p:sp>
        <p:nvSpPr>
          <p:cNvPr id="21" name="TextBox 20"/>
          <p:cNvSpPr txBox="1"/>
          <p:nvPr/>
        </p:nvSpPr>
        <p:spPr>
          <a:xfrm>
            <a:off x="3483864" y="2578608"/>
            <a:ext cx="6108192" cy="384048"/>
          </a:xfrm>
          <a:prstGeom prst="rect">
            <a:avLst/>
          </a:prstGeom>
          <a:noFill/>
        </p:spPr>
        <p:txBody>
          <a:bodyPr wrap="square" lIns="0" tIns="18288" rIns="0" bIns="18288" anchor="ctr">
            <a:spAutoFit/>
          </a:bodyPr>
          <a:lstStyle/>
          <a:p>
            <a:pPr>
              <a:spcAft>
                <a:spcPts val="0"/>
              </a:spcAft>
              <a:defRPr sz="1630" b="0" i="0">
                <a:solidFill>
                  <a:srgbClr val="536276"/>
                </a:solidFill>
                <a:latin typeface="Aptos"/>
              </a:defRPr>
            </a:pPr>
            <a:r>
              <a:t>Comando completo en diapositiva 04</a:t>
            </a:r>
          </a:p>
        </p:txBody>
      </p:sp>
      <p:sp>
        <p:nvSpPr>
          <p:cNvPr id="22" name="TextBox 21"/>
          <p:cNvSpPr txBox="1"/>
          <p:nvPr/>
        </p:nvSpPr>
        <p:spPr>
          <a:xfrm>
            <a:off x="9784080" y="2596896"/>
            <a:ext cx="1408176" cy="338328"/>
          </a:xfrm>
          <a:prstGeom prst="rect">
            <a:avLst/>
          </a:prstGeom>
          <a:noFill/>
        </p:spPr>
        <p:txBody>
          <a:bodyPr wrap="square" lIns="0" tIns="18288" rIns="0" bIns="18288" anchor="ctr">
            <a:spAutoFit/>
          </a:bodyPr>
          <a:lstStyle/>
          <a:p>
            <a:pPr>
              <a:spcAft>
                <a:spcPts val="0"/>
              </a:spcAft>
              <a:defRPr sz="1730" b="1" i="0">
                <a:solidFill>
                  <a:srgbClr val="00A89B"/>
                </a:solidFill>
                <a:latin typeface="Aptos"/>
              </a:defRPr>
            </a:pPr>
            <a:r>
              <a:t>~40 s*</a:t>
            </a:r>
          </a:p>
        </p:txBody>
      </p:sp>
      <p:sp>
        <p:nvSpPr>
          <p:cNvPr id="23" name="Rounded Rectangle 22"/>
          <p:cNvSpPr/>
          <p:nvPr/>
        </p:nvSpPr>
        <p:spPr>
          <a:xfrm>
            <a:off x="658368" y="3008376"/>
            <a:ext cx="10789920" cy="42976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3063240"/>
            <a:ext cx="2697480" cy="320040"/>
          </a:xfrm>
          <a:prstGeom prst="rect">
            <a:avLst/>
          </a:prstGeom>
          <a:noFill/>
        </p:spPr>
        <p:txBody>
          <a:bodyPr wrap="square" lIns="0" tIns="18288" rIns="0" bIns="18288" anchor="ctr">
            <a:spAutoFit/>
          </a:bodyPr>
          <a:lstStyle/>
          <a:p>
            <a:pPr>
              <a:spcAft>
                <a:spcPts val="0"/>
              </a:spcAft>
              <a:defRPr sz="1760" b="1" i="0">
                <a:solidFill>
                  <a:srgbClr val="0A1428"/>
                </a:solidFill>
                <a:latin typeface="Aptos"/>
              </a:defRPr>
            </a:pPr>
            <a:r>
              <a:t>Suite completa</a:t>
            </a:r>
          </a:p>
        </p:txBody>
      </p:sp>
      <p:sp>
        <p:nvSpPr>
          <p:cNvPr id="25" name="TextBox 24"/>
          <p:cNvSpPr txBox="1"/>
          <p:nvPr/>
        </p:nvSpPr>
        <p:spPr>
          <a:xfrm>
            <a:off x="3483864" y="3035808"/>
            <a:ext cx="6108192" cy="384048"/>
          </a:xfrm>
          <a:prstGeom prst="rect">
            <a:avLst/>
          </a:prstGeom>
          <a:noFill/>
        </p:spPr>
        <p:txBody>
          <a:bodyPr wrap="square" lIns="0" tIns="18288" rIns="0" bIns="18288" anchor="ctr">
            <a:spAutoFit/>
          </a:bodyPr>
          <a:lstStyle/>
          <a:p>
            <a:pPr>
              <a:spcAft>
                <a:spcPts val="0"/>
              </a:spcAft>
              <a:defRPr sz="1630" b="0" i="0">
                <a:solidFill>
                  <a:srgbClr val="536276"/>
                </a:solidFill>
                <a:latin typeface="Consolas"/>
              </a:defRPr>
            </a:pPr>
            <a:r>
              <a:t>python -m pytest -q</a:t>
            </a:r>
          </a:p>
        </p:txBody>
      </p:sp>
      <p:sp>
        <p:nvSpPr>
          <p:cNvPr id="26" name="TextBox 25"/>
          <p:cNvSpPr txBox="1"/>
          <p:nvPr/>
        </p:nvSpPr>
        <p:spPr>
          <a:xfrm>
            <a:off x="9784080" y="3054096"/>
            <a:ext cx="1408176" cy="338328"/>
          </a:xfrm>
          <a:prstGeom prst="rect">
            <a:avLst/>
          </a:prstGeom>
          <a:noFill/>
        </p:spPr>
        <p:txBody>
          <a:bodyPr wrap="square" lIns="0" tIns="18288" rIns="0" bIns="18288" anchor="ctr">
            <a:spAutoFit/>
          </a:bodyPr>
          <a:lstStyle/>
          <a:p>
            <a:pPr>
              <a:spcAft>
                <a:spcPts val="0"/>
              </a:spcAft>
              <a:defRPr sz="1730" b="1" i="0">
                <a:solidFill>
                  <a:srgbClr val="00A89B"/>
                </a:solidFill>
                <a:latin typeface="Aptos"/>
              </a:defRPr>
            </a:pPr>
            <a:r>
              <a:t>~11–12 min</a:t>
            </a:r>
          </a:p>
        </p:txBody>
      </p:sp>
      <p:sp>
        <p:nvSpPr>
          <p:cNvPr id="27" name="Rounded Rectangle 26"/>
          <p:cNvSpPr/>
          <p:nvPr/>
        </p:nvSpPr>
        <p:spPr>
          <a:xfrm>
            <a:off x="658368" y="3465576"/>
            <a:ext cx="10789920" cy="429768"/>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 y="3520440"/>
            <a:ext cx="2697480" cy="320040"/>
          </a:xfrm>
          <a:prstGeom prst="rect">
            <a:avLst/>
          </a:prstGeom>
          <a:noFill/>
        </p:spPr>
        <p:txBody>
          <a:bodyPr wrap="square" lIns="0" tIns="18288" rIns="0" bIns="18288" anchor="ctr">
            <a:spAutoFit/>
          </a:bodyPr>
          <a:lstStyle/>
          <a:p>
            <a:pPr>
              <a:spcAft>
                <a:spcPts val="0"/>
              </a:spcAft>
              <a:defRPr sz="1760" b="1" i="0">
                <a:solidFill>
                  <a:srgbClr val="0A1428"/>
                </a:solidFill>
                <a:latin typeface="Aptos"/>
              </a:defRPr>
            </a:pPr>
            <a:r>
              <a:t>Caso base S0</a:t>
            </a:r>
          </a:p>
        </p:txBody>
      </p:sp>
      <p:sp>
        <p:nvSpPr>
          <p:cNvPr id="29" name="TextBox 28"/>
          <p:cNvSpPr txBox="1"/>
          <p:nvPr/>
        </p:nvSpPr>
        <p:spPr>
          <a:xfrm>
            <a:off x="3483864" y="3493008"/>
            <a:ext cx="6108192" cy="384048"/>
          </a:xfrm>
          <a:prstGeom prst="rect">
            <a:avLst/>
          </a:prstGeom>
          <a:noFill/>
        </p:spPr>
        <p:txBody>
          <a:bodyPr wrap="square" lIns="0" tIns="18288" rIns="0" bIns="18288" anchor="ctr">
            <a:spAutoFit/>
          </a:bodyPr>
          <a:lstStyle/>
          <a:p>
            <a:pPr>
              <a:spcAft>
                <a:spcPts val="0"/>
              </a:spcAft>
              <a:defRPr sz="1630" b="0" i="0">
                <a:solidFill>
                  <a:srgbClr val="536276"/>
                </a:solidFill>
                <a:latin typeface="Consolas"/>
              </a:defRPr>
            </a:pPr>
            <a:r>
              <a:t>python -m integration.s0_study</a:t>
            </a:r>
          </a:p>
        </p:txBody>
      </p:sp>
      <p:sp>
        <p:nvSpPr>
          <p:cNvPr id="30" name="TextBox 29"/>
          <p:cNvSpPr txBox="1"/>
          <p:nvPr/>
        </p:nvSpPr>
        <p:spPr>
          <a:xfrm>
            <a:off x="9784080" y="3511296"/>
            <a:ext cx="1408176" cy="338328"/>
          </a:xfrm>
          <a:prstGeom prst="rect">
            <a:avLst/>
          </a:prstGeom>
          <a:noFill/>
        </p:spPr>
        <p:txBody>
          <a:bodyPr wrap="square" lIns="0" tIns="18288" rIns="0" bIns="18288" anchor="ctr">
            <a:spAutoFit/>
          </a:bodyPr>
          <a:lstStyle/>
          <a:p>
            <a:pPr>
              <a:spcAft>
                <a:spcPts val="0"/>
              </a:spcAft>
              <a:defRPr sz="1730" b="1" i="0">
                <a:solidFill>
                  <a:srgbClr val="00A89B"/>
                </a:solidFill>
                <a:latin typeface="Aptos"/>
              </a:defRPr>
            </a:pPr>
            <a:r>
              <a:t>~2 min</a:t>
            </a:r>
          </a:p>
        </p:txBody>
      </p:sp>
      <p:sp>
        <p:nvSpPr>
          <p:cNvPr id="31" name="Rounded Rectangle 30"/>
          <p:cNvSpPr/>
          <p:nvPr/>
        </p:nvSpPr>
        <p:spPr>
          <a:xfrm>
            <a:off x="658368" y="3922776"/>
            <a:ext cx="10789920" cy="42976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4672" y="3977639"/>
            <a:ext cx="2697480" cy="320040"/>
          </a:xfrm>
          <a:prstGeom prst="rect">
            <a:avLst/>
          </a:prstGeom>
          <a:noFill/>
        </p:spPr>
        <p:txBody>
          <a:bodyPr wrap="square" lIns="0" tIns="18288" rIns="0" bIns="18288" anchor="ctr">
            <a:spAutoFit/>
          </a:bodyPr>
          <a:lstStyle/>
          <a:p>
            <a:pPr>
              <a:spcAft>
                <a:spcPts val="0"/>
              </a:spcAft>
              <a:defRPr sz="1760" b="1" i="0">
                <a:solidFill>
                  <a:srgbClr val="0A1428"/>
                </a:solidFill>
                <a:latin typeface="Aptos"/>
              </a:defRPr>
            </a:pPr>
            <a:r>
              <a:t>Evaluación / hosting</a:t>
            </a:r>
          </a:p>
        </p:txBody>
      </p:sp>
      <p:sp>
        <p:nvSpPr>
          <p:cNvPr id="33" name="TextBox 32"/>
          <p:cNvSpPr txBox="1"/>
          <p:nvPr/>
        </p:nvSpPr>
        <p:spPr>
          <a:xfrm>
            <a:off x="3483864" y="3950208"/>
            <a:ext cx="6108192" cy="384048"/>
          </a:xfrm>
          <a:prstGeom prst="rect">
            <a:avLst/>
          </a:prstGeom>
          <a:noFill/>
        </p:spPr>
        <p:txBody>
          <a:bodyPr wrap="square" lIns="0" tIns="18288" rIns="0" bIns="18288" anchor="ctr">
            <a:spAutoFit/>
          </a:bodyPr>
          <a:lstStyle/>
          <a:p>
            <a:pPr>
              <a:spcAft>
                <a:spcPts val="0"/>
              </a:spcAft>
              <a:defRPr sz="1630" b="0" i="0">
                <a:solidFill>
                  <a:srgbClr val="536276"/>
                </a:solidFill>
                <a:latin typeface="Consolas"/>
              </a:defRPr>
            </a:pPr>
            <a:r>
              <a:t>python -m integration.evcs_screening --resweep</a:t>
            </a:r>
          </a:p>
        </p:txBody>
      </p:sp>
      <p:sp>
        <p:nvSpPr>
          <p:cNvPr id="34" name="TextBox 33"/>
          <p:cNvSpPr txBox="1"/>
          <p:nvPr/>
        </p:nvSpPr>
        <p:spPr>
          <a:xfrm>
            <a:off x="9784080" y="3968496"/>
            <a:ext cx="1408176" cy="338328"/>
          </a:xfrm>
          <a:prstGeom prst="rect">
            <a:avLst/>
          </a:prstGeom>
          <a:noFill/>
        </p:spPr>
        <p:txBody>
          <a:bodyPr wrap="square" lIns="0" tIns="18288" rIns="0" bIns="18288" anchor="ctr">
            <a:spAutoFit/>
          </a:bodyPr>
          <a:lstStyle/>
          <a:p>
            <a:pPr>
              <a:spcAft>
                <a:spcPts val="0"/>
              </a:spcAft>
              <a:defRPr sz="1730" b="1" i="0">
                <a:solidFill>
                  <a:srgbClr val="00A89B"/>
                </a:solidFill>
                <a:latin typeface="Aptos"/>
              </a:defRPr>
            </a:pPr>
            <a:r>
              <a:t>~1,5 h</a:t>
            </a:r>
          </a:p>
        </p:txBody>
      </p:sp>
      <p:sp>
        <p:nvSpPr>
          <p:cNvPr id="35" name="Rounded Rectangle 34"/>
          <p:cNvSpPr/>
          <p:nvPr/>
        </p:nvSpPr>
        <p:spPr>
          <a:xfrm>
            <a:off x="658368" y="4379976"/>
            <a:ext cx="10789920" cy="429768"/>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 y="4434840"/>
            <a:ext cx="2697480" cy="320040"/>
          </a:xfrm>
          <a:prstGeom prst="rect">
            <a:avLst/>
          </a:prstGeom>
          <a:noFill/>
        </p:spPr>
        <p:txBody>
          <a:bodyPr wrap="square" lIns="0" tIns="18288" rIns="0" bIns="18288" anchor="ctr">
            <a:spAutoFit/>
          </a:bodyPr>
          <a:lstStyle/>
          <a:p>
            <a:pPr>
              <a:spcAft>
                <a:spcPts val="0"/>
              </a:spcAft>
              <a:defRPr sz="1760" b="1" i="0">
                <a:solidFill>
                  <a:srgbClr val="0A1428"/>
                </a:solidFill>
                <a:latin typeface="Aptos"/>
              </a:defRPr>
            </a:pPr>
            <a:r>
              <a:t>S1 EVCS (15 min)</a:t>
            </a:r>
          </a:p>
        </p:txBody>
      </p:sp>
      <p:sp>
        <p:nvSpPr>
          <p:cNvPr id="37" name="TextBox 36"/>
          <p:cNvSpPr txBox="1"/>
          <p:nvPr/>
        </p:nvSpPr>
        <p:spPr>
          <a:xfrm>
            <a:off x="3483864" y="4407408"/>
            <a:ext cx="6108192" cy="384048"/>
          </a:xfrm>
          <a:prstGeom prst="rect">
            <a:avLst/>
          </a:prstGeom>
          <a:noFill/>
        </p:spPr>
        <p:txBody>
          <a:bodyPr wrap="square" lIns="0" tIns="18288" rIns="0" bIns="18288" anchor="ctr">
            <a:spAutoFit/>
          </a:bodyPr>
          <a:lstStyle/>
          <a:p>
            <a:pPr>
              <a:spcAft>
                <a:spcPts val="0"/>
              </a:spcAft>
              <a:defRPr sz="1630" b="0" i="0">
                <a:solidFill>
                  <a:srgbClr val="536276"/>
                </a:solidFill>
                <a:latin typeface="Consolas"/>
              </a:defRPr>
            </a:pPr>
            <a:r>
              <a:t>python -m integration.s1_study</a:t>
            </a:r>
          </a:p>
        </p:txBody>
      </p:sp>
      <p:sp>
        <p:nvSpPr>
          <p:cNvPr id="38" name="TextBox 37"/>
          <p:cNvSpPr txBox="1"/>
          <p:nvPr/>
        </p:nvSpPr>
        <p:spPr>
          <a:xfrm>
            <a:off x="9784080" y="4425696"/>
            <a:ext cx="1408176" cy="338328"/>
          </a:xfrm>
          <a:prstGeom prst="rect">
            <a:avLst/>
          </a:prstGeom>
          <a:noFill/>
        </p:spPr>
        <p:txBody>
          <a:bodyPr wrap="square" lIns="0" tIns="18288" rIns="0" bIns="18288" anchor="ctr">
            <a:spAutoFit/>
          </a:bodyPr>
          <a:lstStyle/>
          <a:p>
            <a:pPr>
              <a:spcAft>
                <a:spcPts val="0"/>
              </a:spcAft>
              <a:defRPr sz="1730" b="1" i="0">
                <a:solidFill>
                  <a:srgbClr val="00A89B"/>
                </a:solidFill>
                <a:latin typeface="Aptos"/>
              </a:defRPr>
            </a:pPr>
            <a:r>
              <a:t>~35 min</a:t>
            </a:r>
          </a:p>
        </p:txBody>
      </p:sp>
      <p:sp>
        <p:nvSpPr>
          <p:cNvPr id="39" name="Rounded Rectangle 38"/>
          <p:cNvSpPr/>
          <p:nvPr/>
        </p:nvSpPr>
        <p:spPr>
          <a:xfrm>
            <a:off x="658368" y="4837176"/>
            <a:ext cx="10789920" cy="42976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04672" y="4892040"/>
            <a:ext cx="2697480" cy="320040"/>
          </a:xfrm>
          <a:prstGeom prst="rect">
            <a:avLst/>
          </a:prstGeom>
          <a:noFill/>
        </p:spPr>
        <p:txBody>
          <a:bodyPr wrap="square" lIns="0" tIns="18288" rIns="0" bIns="18288" anchor="ctr">
            <a:spAutoFit/>
          </a:bodyPr>
          <a:lstStyle/>
          <a:p>
            <a:pPr>
              <a:spcAft>
                <a:spcPts val="0"/>
              </a:spcAft>
              <a:defRPr sz="1760" b="1" i="0">
                <a:solidFill>
                  <a:srgbClr val="0A1428"/>
                </a:solidFill>
                <a:latin typeface="Aptos"/>
              </a:defRPr>
            </a:pPr>
            <a:r>
              <a:t>Resumen / figuras</a:t>
            </a:r>
          </a:p>
        </p:txBody>
      </p:sp>
      <p:sp>
        <p:nvSpPr>
          <p:cNvPr id="41" name="TextBox 40"/>
          <p:cNvSpPr txBox="1"/>
          <p:nvPr/>
        </p:nvSpPr>
        <p:spPr>
          <a:xfrm>
            <a:off x="3483864" y="4864608"/>
            <a:ext cx="6108192" cy="384048"/>
          </a:xfrm>
          <a:prstGeom prst="rect">
            <a:avLst/>
          </a:prstGeom>
          <a:noFill/>
        </p:spPr>
        <p:txBody>
          <a:bodyPr wrap="square" lIns="0" tIns="18288" rIns="0" bIns="18288" anchor="ctr">
            <a:spAutoFit/>
          </a:bodyPr>
          <a:lstStyle/>
          <a:p>
            <a:pPr>
              <a:spcAft>
                <a:spcPts val="0"/>
              </a:spcAft>
              <a:defRPr sz="1630" b="0" i="0">
                <a:solidFill>
                  <a:srgbClr val="536276"/>
                </a:solidFill>
                <a:latin typeface="Consolas"/>
              </a:defRPr>
            </a:pPr>
            <a:r>
              <a:t>python -m integration.resumo</a:t>
            </a:r>
          </a:p>
        </p:txBody>
      </p:sp>
      <p:sp>
        <p:nvSpPr>
          <p:cNvPr id="42" name="TextBox 41"/>
          <p:cNvSpPr txBox="1"/>
          <p:nvPr/>
        </p:nvSpPr>
        <p:spPr>
          <a:xfrm>
            <a:off x="9784080" y="4882896"/>
            <a:ext cx="1408176" cy="338328"/>
          </a:xfrm>
          <a:prstGeom prst="rect">
            <a:avLst/>
          </a:prstGeom>
          <a:noFill/>
        </p:spPr>
        <p:txBody>
          <a:bodyPr wrap="square" lIns="0" tIns="18288" rIns="0" bIns="18288" anchor="ctr">
            <a:spAutoFit/>
          </a:bodyPr>
          <a:lstStyle/>
          <a:p>
            <a:pPr>
              <a:spcAft>
                <a:spcPts val="0"/>
              </a:spcAft>
              <a:defRPr sz="1730" b="1" i="0">
                <a:solidFill>
                  <a:srgbClr val="00A89B"/>
                </a:solidFill>
                <a:latin typeface="Aptos"/>
              </a:defRPr>
            </a:pPr>
            <a:r>
              <a:t>segundos</a:t>
            </a:r>
          </a:p>
        </p:txBody>
      </p:sp>
      <p:sp>
        <p:nvSpPr>
          <p:cNvPr id="43" name="Rounded Rectangle 42"/>
          <p:cNvSpPr/>
          <p:nvPr/>
        </p:nvSpPr>
        <p:spPr>
          <a:xfrm>
            <a:off x="658368" y="5294376"/>
            <a:ext cx="10789920" cy="731519"/>
          </a:xfrm>
          <a:prstGeom prst="roundRect">
            <a:avLst>
              <a:gd name="adj" fmla="val 10000"/>
            </a:avLst>
          </a:prstGeom>
          <a:solidFill>
            <a:srgbClr val="EDF6FA"/>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 y="5349240"/>
            <a:ext cx="2697480" cy="621792"/>
          </a:xfrm>
          <a:prstGeom prst="rect">
            <a:avLst/>
          </a:prstGeom>
          <a:noFill/>
        </p:spPr>
        <p:txBody>
          <a:bodyPr wrap="square" lIns="0" tIns="18288" rIns="0" bIns="18288" anchor="ctr">
            <a:spAutoFit/>
          </a:bodyPr>
          <a:lstStyle/>
          <a:p>
            <a:pPr>
              <a:spcAft>
                <a:spcPts val="0"/>
              </a:spcAft>
              <a:defRPr sz="1760" b="1" i="0">
                <a:solidFill>
                  <a:srgbClr val="0A1428"/>
                </a:solidFill>
                <a:latin typeface="Aptos"/>
              </a:defRPr>
            </a:pPr>
            <a:r>
              <a:t>Integración (1 h)</a:t>
            </a:r>
          </a:p>
        </p:txBody>
      </p:sp>
      <p:sp>
        <p:nvSpPr>
          <p:cNvPr id="45" name="TextBox 44"/>
          <p:cNvSpPr txBox="1"/>
          <p:nvPr/>
        </p:nvSpPr>
        <p:spPr>
          <a:xfrm>
            <a:off x="3483864" y="5321808"/>
            <a:ext cx="6108192" cy="685800"/>
          </a:xfrm>
          <a:prstGeom prst="rect">
            <a:avLst/>
          </a:prstGeom>
          <a:noFill/>
        </p:spPr>
        <p:txBody>
          <a:bodyPr wrap="square" lIns="0" tIns="18288" rIns="0" bIns="18288" anchor="ctr">
            <a:spAutoFit/>
          </a:bodyPr>
          <a:lstStyle/>
          <a:p>
            <a:pPr>
              <a:spcAft>
                <a:spcPts val="0"/>
              </a:spcAft>
              <a:defRPr sz="1460" b="0" i="0">
                <a:solidFill>
                  <a:srgbClr val="536276"/>
                </a:solidFill>
                <a:latin typeface="Consolas"/>
              </a:defRPr>
            </a:pPr>
            <a:r>
              <a:t>python -m integration.coordinator --output results/ieee8500/integration --frozen-taps</a:t>
            </a:r>
          </a:p>
        </p:txBody>
      </p:sp>
      <p:sp>
        <p:nvSpPr>
          <p:cNvPr id="46" name="TextBox 45"/>
          <p:cNvSpPr txBox="1"/>
          <p:nvPr/>
        </p:nvSpPr>
        <p:spPr>
          <a:xfrm>
            <a:off x="9784080" y="5340096"/>
            <a:ext cx="1408176" cy="640080"/>
          </a:xfrm>
          <a:prstGeom prst="rect">
            <a:avLst/>
          </a:prstGeom>
          <a:noFill/>
        </p:spPr>
        <p:txBody>
          <a:bodyPr wrap="square" lIns="0" tIns="18288" rIns="0" bIns="18288" anchor="ctr">
            <a:spAutoFit/>
          </a:bodyPr>
          <a:lstStyle/>
          <a:p>
            <a:pPr>
              <a:spcAft>
                <a:spcPts val="0"/>
              </a:spcAft>
              <a:defRPr sz="1730" b="1" i="0">
                <a:solidFill>
                  <a:srgbClr val="00A89B"/>
                </a:solidFill>
                <a:latin typeface="Aptos"/>
              </a:defRPr>
            </a:pPr>
            <a:r>
              <a:rPr dirty="0"/>
              <a:t>~15 min**</a:t>
            </a:r>
          </a:p>
        </p:txBody>
      </p:sp>
      <p:sp>
        <p:nvSpPr>
          <p:cNvPr id="48" name="Rectangle 47"/>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README.md  ·  docs/validation.md  ·  results/ieee8500/resumo/LEIA-ME.md  ·  indicaciones facilitadas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Dónde encontrar figuras y tablas</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GUÍA DE CÓDIGO</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10</a:t>
            </a:r>
          </a:p>
        </p:txBody>
      </p:sp>
      <p:sp>
        <p:nvSpPr>
          <p:cNvPr id="11" name="Rounded Rectangle 10"/>
          <p:cNvSpPr/>
          <p:nvPr/>
        </p:nvSpPr>
        <p:spPr>
          <a:xfrm>
            <a:off x="731520" y="1664208"/>
            <a:ext cx="10570464" cy="54864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1664208"/>
            <a:ext cx="82296" cy="54864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1755648"/>
            <a:ext cx="5504688" cy="347472"/>
          </a:xfrm>
          <a:prstGeom prst="rect">
            <a:avLst/>
          </a:prstGeom>
          <a:noFill/>
        </p:spPr>
        <p:txBody>
          <a:bodyPr wrap="square" lIns="0" tIns="18288" rIns="0" bIns="18288" anchor="ctr">
            <a:spAutoFit/>
          </a:bodyPr>
          <a:lstStyle/>
          <a:p>
            <a:pPr>
              <a:spcAft>
                <a:spcPts val="0"/>
              </a:spcAft>
              <a:defRPr sz="1689" b="1" i="0">
                <a:solidFill>
                  <a:srgbClr val="0A1428"/>
                </a:solidFill>
                <a:latin typeface="Consolas"/>
              </a:defRPr>
            </a:pPr>
            <a:r>
              <a:t>results/ieee8500/resumo/</a:t>
            </a:r>
          </a:p>
        </p:txBody>
      </p:sp>
      <p:sp>
        <p:nvSpPr>
          <p:cNvPr id="14" name="TextBox 13"/>
          <p:cNvSpPr txBox="1"/>
          <p:nvPr/>
        </p:nvSpPr>
        <p:spPr>
          <a:xfrm>
            <a:off x="6446520" y="1755648"/>
            <a:ext cx="4709160" cy="347472"/>
          </a:xfrm>
          <a:prstGeom prst="rect">
            <a:avLst/>
          </a:prstGeom>
          <a:noFill/>
        </p:spPr>
        <p:txBody>
          <a:bodyPr wrap="square" lIns="0" tIns="18288" rIns="0" bIns="18288" anchor="ctr">
            <a:spAutoFit/>
          </a:bodyPr>
          <a:lstStyle/>
          <a:p>
            <a:pPr>
              <a:spcAft>
                <a:spcPts val="0"/>
              </a:spcAft>
              <a:defRPr sz="1670" b="0" i="0">
                <a:solidFill>
                  <a:srgbClr val="536276"/>
                </a:solidFill>
                <a:latin typeface="Aptos"/>
              </a:defRPr>
            </a:pPr>
            <a:r>
              <a:t>8 figuras + LEIA-ME.md</a:t>
            </a:r>
          </a:p>
        </p:txBody>
      </p:sp>
      <p:sp>
        <p:nvSpPr>
          <p:cNvPr id="15" name="Rounded Rectangle 14"/>
          <p:cNvSpPr/>
          <p:nvPr/>
        </p:nvSpPr>
        <p:spPr>
          <a:xfrm>
            <a:off x="731520" y="2286000"/>
            <a:ext cx="10570464" cy="54864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2286000"/>
            <a:ext cx="82296" cy="548640"/>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2377440"/>
            <a:ext cx="5504688" cy="347472"/>
          </a:xfrm>
          <a:prstGeom prst="rect">
            <a:avLst/>
          </a:prstGeom>
          <a:noFill/>
        </p:spPr>
        <p:txBody>
          <a:bodyPr wrap="square" lIns="0" tIns="18288" rIns="0" bIns="18288" anchor="ctr">
            <a:spAutoFit/>
          </a:bodyPr>
          <a:lstStyle/>
          <a:p>
            <a:pPr>
              <a:spcAft>
                <a:spcPts val="0"/>
              </a:spcAft>
              <a:defRPr sz="1689" b="1" i="0">
                <a:solidFill>
                  <a:srgbClr val="0A1428"/>
                </a:solidFill>
                <a:latin typeface="Consolas"/>
              </a:defRPr>
            </a:pPr>
            <a:r>
              <a:t>results/ieee8500/s0/</a:t>
            </a:r>
          </a:p>
        </p:txBody>
      </p:sp>
      <p:sp>
        <p:nvSpPr>
          <p:cNvPr id="18" name="TextBox 17"/>
          <p:cNvSpPr txBox="1"/>
          <p:nvPr/>
        </p:nvSpPr>
        <p:spPr>
          <a:xfrm>
            <a:off x="6446520" y="2377440"/>
            <a:ext cx="4709160" cy="347472"/>
          </a:xfrm>
          <a:prstGeom prst="rect">
            <a:avLst/>
          </a:prstGeom>
          <a:noFill/>
        </p:spPr>
        <p:txBody>
          <a:bodyPr wrap="square" lIns="0" tIns="18288" rIns="0" bIns="18288" anchor="ctr">
            <a:spAutoFit/>
          </a:bodyPr>
          <a:lstStyle/>
          <a:p>
            <a:pPr>
              <a:spcAft>
                <a:spcPts val="0"/>
              </a:spcAft>
              <a:defRPr sz="1670" b="0" i="0">
                <a:solidFill>
                  <a:srgbClr val="536276"/>
                </a:solidFill>
                <a:latin typeface="Aptos"/>
              </a:defRPr>
            </a:pPr>
            <a:r>
              <a:t>Red base</a:t>
            </a:r>
          </a:p>
        </p:txBody>
      </p:sp>
      <p:sp>
        <p:nvSpPr>
          <p:cNvPr id="19" name="Rounded Rectangle 18"/>
          <p:cNvSpPr/>
          <p:nvPr/>
        </p:nvSpPr>
        <p:spPr>
          <a:xfrm>
            <a:off x="731520" y="2907792"/>
            <a:ext cx="10570464" cy="54864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2907792"/>
            <a:ext cx="82296" cy="548640"/>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2999232"/>
            <a:ext cx="5504688" cy="347472"/>
          </a:xfrm>
          <a:prstGeom prst="rect">
            <a:avLst/>
          </a:prstGeom>
          <a:noFill/>
        </p:spPr>
        <p:txBody>
          <a:bodyPr wrap="square" lIns="0" tIns="18288" rIns="0" bIns="18288" anchor="ctr">
            <a:spAutoFit/>
          </a:bodyPr>
          <a:lstStyle/>
          <a:p>
            <a:pPr>
              <a:spcAft>
                <a:spcPts val="0"/>
              </a:spcAft>
              <a:defRPr sz="1689" b="1" i="0">
                <a:solidFill>
                  <a:srgbClr val="0A1428"/>
                </a:solidFill>
                <a:latin typeface="Consolas"/>
              </a:defRPr>
            </a:pPr>
            <a:r>
              <a:t>results/ieee8500/evcs_screening/</a:t>
            </a:r>
          </a:p>
        </p:txBody>
      </p:sp>
      <p:sp>
        <p:nvSpPr>
          <p:cNvPr id="22" name="TextBox 21"/>
          <p:cNvSpPr txBox="1"/>
          <p:nvPr/>
        </p:nvSpPr>
        <p:spPr>
          <a:xfrm>
            <a:off x="6446520" y="2999232"/>
            <a:ext cx="4709160" cy="347472"/>
          </a:xfrm>
          <a:prstGeom prst="rect">
            <a:avLst/>
          </a:prstGeom>
          <a:noFill/>
        </p:spPr>
        <p:txBody>
          <a:bodyPr wrap="square" lIns="0" tIns="18288" rIns="0" bIns="18288" anchor="ctr">
            <a:spAutoFit/>
          </a:bodyPr>
          <a:lstStyle/>
          <a:p>
            <a:pPr>
              <a:spcAft>
                <a:spcPts val="0"/>
              </a:spcAft>
              <a:defRPr sz="1670" b="0" i="0">
                <a:solidFill>
                  <a:srgbClr val="536276"/>
                </a:solidFill>
                <a:latin typeface="Aptos"/>
              </a:defRPr>
            </a:pPr>
            <a:r>
              <a:t>Ubicaciones y capacidad de alojamiento</a:t>
            </a:r>
          </a:p>
        </p:txBody>
      </p:sp>
      <p:sp>
        <p:nvSpPr>
          <p:cNvPr id="23" name="Rounded Rectangle 22"/>
          <p:cNvSpPr/>
          <p:nvPr/>
        </p:nvSpPr>
        <p:spPr>
          <a:xfrm>
            <a:off x="731520" y="3529584"/>
            <a:ext cx="10570464" cy="54864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 y="3529584"/>
            <a:ext cx="82296" cy="548640"/>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3621024"/>
            <a:ext cx="5504688" cy="347472"/>
          </a:xfrm>
          <a:prstGeom prst="rect">
            <a:avLst/>
          </a:prstGeom>
          <a:noFill/>
        </p:spPr>
        <p:txBody>
          <a:bodyPr wrap="square" lIns="0" tIns="18288" rIns="0" bIns="18288" anchor="ctr">
            <a:spAutoFit/>
          </a:bodyPr>
          <a:lstStyle/>
          <a:p>
            <a:pPr>
              <a:spcAft>
                <a:spcPts val="0"/>
              </a:spcAft>
              <a:defRPr sz="1689" b="1" i="0">
                <a:solidFill>
                  <a:srgbClr val="0A1428"/>
                </a:solidFill>
                <a:latin typeface="Consolas"/>
              </a:defRPr>
            </a:pPr>
            <a:r>
              <a:t>results/ieee8500/s1/</a:t>
            </a:r>
          </a:p>
        </p:txBody>
      </p:sp>
      <p:sp>
        <p:nvSpPr>
          <p:cNvPr id="26" name="TextBox 25"/>
          <p:cNvSpPr txBox="1"/>
          <p:nvPr/>
        </p:nvSpPr>
        <p:spPr>
          <a:xfrm>
            <a:off x="6446520" y="3621024"/>
            <a:ext cx="4709160" cy="347472"/>
          </a:xfrm>
          <a:prstGeom prst="rect">
            <a:avLst/>
          </a:prstGeom>
          <a:noFill/>
        </p:spPr>
        <p:txBody>
          <a:bodyPr wrap="square" lIns="0" tIns="18288" rIns="0" bIns="18288" anchor="ctr">
            <a:spAutoFit/>
          </a:bodyPr>
          <a:lstStyle/>
          <a:p>
            <a:pPr>
              <a:spcAft>
                <a:spcPts val="0"/>
              </a:spcAft>
              <a:defRPr sz="1670" b="0" i="0">
                <a:solidFill>
                  <a:srgbClr val="536276"/>
                </a:solidFill>
                <a:latin typeface="Aptos"/>
              </a:defRPr>
            </a:pPr>
            <a:r>
              <a:t>Flotas, series y subcarpetas datos/</a:t>
            </a:r>
          </a:p>
        </p:txBody>
      </p:sp>
      <p:sp>
        <p:nvSpPr>
          <p:cNvPr id="27" name="Rounded Rectangle 26"/>
          <p:cNvSpPr/>
          <p:nvPr/>
        </p:nvSpPr>
        <p:spPr>
          <a:xfrm>
            <a:off x="731520" y="4151376"/>
            <a:ext cx="10570464" cy="54864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1520" y="4151376"/>
            <a:ext cx="82296" cy="548640"/>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2688" y="4242816"/>
            <a:ext cx="5504688" cy="347472"/>
          </a:xfrm>
          <a:prstGeom prst="rect">
            <a:avLst/>
          </a:prstGeom>
          <a:noFill/>
        </p:spPr>
        <p:txBody>
          <a:bodyPr wrap="square" lIns="0" tIns="18288" rIns="0" bIns="18288" anchor="ctr">
            <a:spAutoFit/>
          </a:bodyPr>
          <a:lstStyle/>
          <a:p>
            <a:pPr>
              <a:spcAft>
                <a:spcPts val="0"/>
              </a:spcAft>
              <a:defRPr sz="1689" b="1" i="0">
                <a:solidFill>
                  <a:srgbClr val="0A1428"/>
                </a:solidFill>
                <a:latin typeface="Consolas"/>
              </a:defRPr>
            </a:pPr>
            <a:r>
              <a:t>results/ieee8500/s0_vs_s1/</a:t>
            </a:r>
          </a:p>
        </p:txBody>
      </p:sp>
      <p:sp>
        <p:nvSpPr>
          <p:cNvPr id="30" name="TextBox 29"/>
          <p:cNvSpPr txBox="1"/>
          <p:nvPr/>
        </p:nvSpPr>
        <p:spPr>
          <a:xfrm>
            <a:off x="6446520" y="4242816"/>
            <a:ext cx="4709160" cy="347472"/>
          </a:xfrm>
          <a:prstGeom prst="rect">
            <a:avLst/>
          </a:prstGeom>
          <a:noFill/>
        </p:spPr>
        <p:txBody>
          <a:bodyPr wrap="square" lIns="0" tIns="18288" rIns="0" bIns="18288" anchor="ctr">
            <a:spAutoFit/>
          </a:bodyPr>
          <a:lstStyle/>
          <a:p>
            <a:pPr>
              <a:spcAft>
                <a:spcPts val="0"/>
              </a:spcAft>
              <a:defRPr sz="1670" b="0" i="0">
                <a:solidFill>
                  <a:srgbClr val="536276"/>
                </a:solidFill>
                <a:latin typeface="Aptos"/>
              </a:defRPr>
            </a:pPr>
            <a:r>
              <a:t>ANALISE.md y metrics.csv</a:t>
            </a:r>
          </a:p>
        </p:txBody>
      </p:sp>
      <p:sp>
        <p:nvSpPr>
          <p:cNvPr id="31" name="Rounded Rectangle 30"/>
          <p:cNvSpPr/>
          <p:nvPr/>
        </p:nvSpPr>
        <p:spPr>
          <a:xfrm>
            <a:off x="731520" y="4773168"/>
            <a:ext cx="10570464" cy="548640"/>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4773168"/>
            <a:ext cx="82296" cy="548640"/>
          </a:xfrm>
          <a:prstGeom prst="rect">
            <a:avLst/>
          </a:prstGeom>
          <a:solidFill>
            <a:srgbClr val="D96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2688" y="4864608"/>
            <a:ext cx="5504688" cy="347472"/>
          </a:xfrm>
          <a:prstGeom prst="rect">
            <a:avLst/>
          </a:prstGeom>
          <a:noFill/>
        </p:spPr>
        <p:txBody>
          <a:bodyPr wrap="square" lIns="0" tIns="18288" rIns="0" bIns="18288" anchor="ctr">
            <a:spAutoFit/>
          </a:bodyPr>
          <a:lstStyle/>
          <a:p>
            <a:pPr>
              <a:spcAft>
                <a:spcPts val="0"/>
              </a:spcAft>
              <a:defRPr sz="1689" b="1" i="0">
                <a:solidFill>
                  <a:srgbClr val="0A1428"/>
                </a:solidFill>
                <a:latin typeface="Consolas"/>
              </a:defRPr>
            </a:pPr>
            <a:r>
              <a:t>results/ieee8500/integration/</a:t>
            </a:r>
          </a:p>
        </p:txBody>
      </p:sp>
      <p:sp>
        <p:nvSpPr>
          <p:cNvPr id="34" name="TextBox 33"/>
          <p:cNvSpPr txBox="1"/>
          <p:nvPr/>
        </p:nvSpPr>
        <p:spPr>
          <a:xfrm>
            <a:off x="6446520" y="4864608"/>
            <a:ext cx="4709160" cy="347472"/>
          </a:xfrm>
          <a:prstGeom prst="rect">
            <a:avLst/>
          </a:prstGeom>
          <a:noFill/>
        </p:spPr>
        <p:txBody>
          <a:bodyPr wrap="square" lIns="0" tIns="18288" rIns="0" bIns="18288" anchor="ctr">
            <a:spAutoFit/>
          </a:bodyPr>
          <a:lstStyle/>
          <a:p>
            <a:pPr>
              <a:spcAft>
                <a:spcPts val="0"/>
              </a:spcAft>
              <a:defRPr sz="1670" b="1" i="0">
                <a:solidFill>
                  <a:srgbClr val="D96B3D"/>
                </a:solidFill>
                <a:latin typeface="Aptos"/>
              </a:defRPr>
            </a:pPr>
            <a:r>
              <a:t>PENDIENTE — resultados S0–S4</a:t>
            </a:r>
          </a:p>
        </p:txBody>
      </p:sp>
      <p:sp>
        <p:nvSpPr>
          <p:cNvPr id="35" name="TextBox 34"/>
          <p:cNvSpPr txBox="1"/>
          <p:nvPr/>
        </p:nvSpPr>
        <p:spPr>
          <a:xfrm>
            <a:off x="786384" y="5724144"/>
            <a:ext cx="10424160" cy="457200"/>
          </a:xfrm>
          <a:prstGeom prst="rect">
            <a:avLst/>
          </a:prstGeom>
          <a:noFill/>
        </p:spPr>
        <p:txBody>
          <a:bodyPr wrap="square" lIns="0" tIns="18288" rIns="0" bIns="18288" anchor="ctr">
            <a:spAutoFit/>
          </a:bodyPr>
          <a:lstStyle/>
          <a:p>
            <a:pPr>
              <a:spcAft>
                <a:spcPts val="0"/>
              </a:spcAft>
              <a:defRPr sz="1800" b="1" i="0">
                <a:solidFill>
                  <a:srgbClr val="00A89B"/>
                </a:solidFill>
                <a:latin typeface="Aptos"/>
              </a:defRPr>
            </a:pPr>
            <a:r>
              <a:t>Si results/ está incompleta, use docs/evcs/figures/ (14 figuras en Git).</a:t>
            </a:r>
          </a:p>
        </p:txBody>
      </p:sp>
      <p:sp>
        <p:nvSpPr>
          <p:cNvPr id="36" name="Rectangle 35"/>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results/README.md  ·  results/ieee8500/resumo/LEIA-ME.md  ·  docs/evcs/figures/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S0: red base IEEE 8500</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11</a:t>
            </a:r>
          </a:p>
        </p:txBody>
      </p:sp>
      <p:sp>
        <p:nvSpPr>
          <p:cNvPr id="11" name="Rounded Rectangle 10"/>
          <p:cNvSpPr/>
          <p:nvPr/>
        </p:nvSpPr>
        <p:spPr>
          <a:xfrm>
            <a:off x="65836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0_topology.png"/>
          <p:cNvPicPr>
            <a:picLocks noChangeAspect="1"/>
          </p:cNvPicPr>
          <p:nvPr/>
        </p:nvPicPr>
        <p:blipFill>
          <a:blip r:embed="rId3"/>
          <a:stretch>
            <a:fillRect/>
          </a:stretch>
        </p:blipFill>
        <p:spPr>
          <a:xfrm>
            <a:off x="1096473" y="1723644"/>
            <a:ext cx="4473029" cy="3456432"/>
          </a:xfrm>
          <a:prstGeom prst="rect">
            <a:avLst/>
          </a:prstGeom>
        </p:spPr>
      </p:pic>
      <p:sp>
        <p:nvSpPr>
          <p:cNvPr id="13" name="TextBox 12"/>
          <p:cNvSpPr txBox="1"/>
          <p:nvPr/>
        </p:nvSpPr>
        <p:spPr>
          <a:xfrm>
            <a:off x="65836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Topología del alimentador</a:t>
            </a:r>
          </a:p>
        </p:txBody>
      </p:sp>
      <p:sp>
        <p:nvSpPr>
          <p:cNvPr id="14" name="Rounded Rectangle 13"/>
          <p:cNvSpPr/>
          <p:nvPr/>
        </p:nvSpPr>
        <p:spPr>
          <a:xfrm>
            <a:off x="619048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0_voltage_profile_peak.png"/>
          <p:cNvPicPr>
            <a:picLocks noChangeAspect="1"/>
          </p:cNvPicPr>
          <p:nvPr/>
        </p:nvPicPr>
        <p:blipFill>
          <a:blip r:embed="rId4"/>
          <a:stretch>
            <a:fillRect/>
          </a:stretch>
        </p:blipFill>
        <p:spPr>
          <a:xfrm>
            <a:off x="6245352" y="2037191"/>
            <a:ext cx="5239512" cy="2829336"/>
          </a:xfrm>
          <a:prstGeom prst="rect">
            <a:avLst/>
          </a:prstGeom>
        </p:spPr>
      </p:pic>
      <p:sp>
        <p:nvSpPr>
          <p:cNvPr id="16" name="TextBox 15"/>
          <p:cNvSpPr txBox="1"/>
          <p:nvPr/>
        </p:nvSpPr>
        <p:spPr>
          <a:xfrm>
            <a:off x="619048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Perfil de tensión en el pico de S0</a:t>
            </a:r>
          </a:p>
        </p:txBody>
      </p:sp>
      <p:sp>
        <p:nvSpPr>
          <p:cNvPr id="17" name="Rectangle 16"/>
          <p:cNvSpPr/>
          <p:nvPr/>
        </p:nvSpPr>
        <p:spPr>
          <a:xfrm>
            <a:off x="731520"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Reducción a media tensión: 2.521 barras, 170 km y 1.177 usuarios.</a:t>
            </a:r>
          </a:p>
        </p:txBody>
      </p:sp>
      <p:sp>
        <p:nvSpPr>
          <p:cNvPr id="19" name="Rectangle 18"/>
          <p:cNvSpPr/>
          <p:nvPr/>
        </p:nvSpPr>
        <p:spPr>
          <a:xfrm>
            <a:off x="4471416"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08576"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Carga nominal de 10,8 MW en un área aproximada de 11 × 12 km.</a:t>
            </a:r>
          </a:p>
        </p:txBody>
      </p:sp>
      <p:sp>
        <p:nvSpPr>
          <p:cNvPr id="21" name="Rectangle 20"/>
          <p:cNvSpPr/>
          <p:nvPr/>
        </p:nvSpPr>
        <p:spPr>
          <a:xfrm>
            <a:off x="8211312"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48472"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Ampacidad y ajustes de fuente/reguladores distintos a los del IEEE.</a:t>
            </a:r>
          </a:p>
        </p:txBody>
      </p:sp>
      <p:sp>
        <p:nvSpPr>
          <p:cNvPr id="23" name="Rectangle 22"/>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README.md  ·  data/ieee8500/README.md  ·  docs/evcs/figures/s0_topology.png  ·  docs/evcs/figures/s0_voltage_profile_peak.png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S1: distribución de las 75 estaciones</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12</a:t>
            </a:r>
          </a:p>
        </p:txBody>
      </p:sp>
      <p:sp>
        <p:nvSpPr>
          <p:cNvPr id="11" name="Rounded Rectangle 10"/>
          <p:cNvSpPr/>
          <p:nvPr/>
        </p:nvSpPr>
        <p:spPr>
          <a:xfrm>
            <a:off x="65836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tations_map_3000.png"/>
          <p:cNvPicPr>
            <a:picLocks noChangeAspect="1"/>
          </p:cNvPicPr>
          <p:nvPr/>
        </p:nvPicPr>
        <p:blipFill>
          <a:blip r:embed="rId3"/>
          <a:stretch>
            <a:fillRect/>
          </a:stretch>
        </p:blipFill>
        <p:spPr>
          <a:xfrm>
            <a:off x="1096473" y="1723644"/>
            <a:ext cx="4473029" cy="3456432"/>
          </a:xfrm>
          <a:prstGeom prst="rect">
            <a:avLst/>
          </a:prstGeom>
        </p:spPr>
      </p:pic>
      <p:sp>
        <p:nvSpPr>
          <p:cNvPr id="13" name="TextBox 12"/>
          <p:cNvSpPr txBox="1"/>
          <p:nvPr/>
        </p:nvSpPr>
        <p:spPr>
          <a:xfrm>
            <a:off x="65836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Ubicaciones elegidas para 3.000 VE</a:t>
            </a:r>
          </a:p>
        </p:txBody>
      </p:sp>
      <p:sp>
        <p:nvSpPr>
          <p:cNvPr id="14" name="Rounded Rectangle 13"/>
          <p:cNvSpPr/>
          <p:nvPr/>
        </p:nvSpPr>
        <p:spPr>
          <a:xfrm>
            <a:off x="619048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hosting_capacity_map.png"/>
          <p:cNvPicPr>
            <a:picLocks noChangeAspect="1"/>
          </p:cNvPicPr>
          <p:nvPr/>
        </p:nvPicPr>
        <p:blipFill>
          <a:blip r:embed="rId4"/>
          <a:stretch>
            <a:fillRect/>
          </a:stretch>
        </p:blipFill>
        <p:spPr>
          <a:xfrm>
            <a:off x="6628593" y="1723644"/>
            <a:ext cx="4473029" cy="3456432"/>
          </a:xfrm>
          <a:prstGeom prst="rect">
            <a:avLst/>
          </a:prstGeom>
        </p:spPr>
      </p:pic>
      <p:sp>
        <p:nvSpPr>
          <p:cNvPr id="16" name="TextBox 15"/>
          <p:cNvSpPr txBox="1"/>
          <p:nvPr/>
        </p:nvSpPr>
        <p:spPr>
          <a:xfrm>
            <a:off x="619048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Evaluación de capacidad de alojamiento</a:t>
            </a:r>
          </a:p>
        </p:txBody>
      </p:sp>
      <p:sp>
        <p:nvSpPr>
          <p:cNvPr id="17" name="Rectangle 16"/>
          <p:cNvSpPr/>
          <p:nvPr/>
        </p:nvSpPr>
        <p:spPr>
          <a:xfrm>
            <a:off x="731520"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4 hubs DC + 9 estaciones AC trifásicas + 62 AC monofásicas.</a:t>
            </a:r>
          </a:p>
        </p:txBody>
      </p:sp>
      <p:sp>
        <p:nvSpPr>
          <p:cNvPr id="19" name="Rectangle 18"/>
          <p:cNvSpPr/>
          <p:nvPr/>
        </p:nvSpPr>
        <p:spPr>
          <a:xfrm>
            <a:off x="4471416"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08576"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4.505,6 kW instalados; 915 sesiones por día (3.000 VE).</a:t>
            </a:r>
          </a:p>
        </p:txBody>
      </p:sp>
      <p:sp>
        <p:nvSpPr>
          <p:cNvPr id="21" name="Rectangle 20"/>
          <p:cNvSpPr/>
          <p:nvPr/>
        </p:nvSpPr>
        <p:spPr>
          <a:xfrm>
            <a:off x="8211312"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48472"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Ubicación mediante MILP de cobertura total, radio de 500 m; costos hipotéticos.</a:t>
            </a:r>
          </a:p>
        </p:txBody>
      </p:sp>
      <p:sp>
        <p:nvSpPr>
          <p:cNvPr id="23" name="Rectangle 22"/>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src/evcs/planning.py  ·  docs/validation.md  ·  docs/evcs/figures/stations_map_3000.png  ·  docs/evcs/figures/hosting_capacity_map.png  ·  results/ieee8500/evcs_screening/dados/fleet_scenarios.csv [não incluíd...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Más VE: aumentan el pico y la carga</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13</a:t>
            </a:r>
          </a:p>
        </p:txBody>
      </p:sp>
      <p:sp>
        <p:nvSpPr>
          <p:cNvPr id="11" name="Rounded Rectangle 10"/>
          <p:cNvSpPr/>
          <p:nvPr/>
        </p:nvSpPr>
        <p:spPr>
          <a:xfrm>
            <a:off x="65836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1_overload_substation_peak.png"/>
          <p:cNvPicPr>
            <a:picLocks noChangeAspect="1"/>
          </p:cNvPicPr>
          <p:nvPr/>
        </p:nvPicPr>
        <p:blipFill>
          <a:blip r:embed="rId3"/>
          <a:stretch>
            <a:fillRect/>
          </a:stretch>
        </p:blipFill>
        <p:spPr>
          <a:xfrm>
            <a:off x="713232" y="1880006"/>
            <a:ext cx="5239512" cy="3143707"/>
          </a:xfrm>
          <a:prstGeom prst="rect">
            <a:avLst/>
          </a:prstGeom>
        </p:spPr>
      </p:pic>
      <p:sp>
        <p:nvSpPr>
          <p:cNvPr id="13" name="TextBox 12"/>
          <p:cNvSpPr txBox="1"/>
          <p:nvPr/>
        </p:nvSpPr>
        <p:spPr>
          <a:xfrm>
            <a:off x="65836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Pico de subestación según tamaño de flota</a:t>
            </a:r>
          </a:p>
        </p:txBody>
      </p:sp>
      <p:sp>
        <p:nvSpPr>
          <p:cNvPr id="14" name="Rounded Rectangle 13"/>
          <p:cNvSpPr/>
          <p:nvPr/>
        </p:nvSpPr>
        <p:spPr>
          <a:xfrm>
            <a:off x="619048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2_overload_line_loading.png"/>
          <p:cNvPicPr>
            <a:picLocks noChangeAspect="1"/>
          </p:cNvPicPr>
          <p:nvPr/>
        </p:nvPicPr>
        <p:blipFill>
          <a:blip r:embed="rId4"/>
          <a:stretch>
            <a:fillRect/>
          </a:stretch>
        </p:blipFill>
        <p:spPr>
          <a:xfrm>
            <a:off x="6245352" y="1880006"/>
            <a:ext cx="5239512" cy="3143707"/>
          </a:xfrm>
          <a:prstGeom prst="rect">
            <a:avLst/>
          </a:prstGeom>
        </p:spPr>
      </p:pic>
      <p:sp>
        <p:nvSpPr>
          <p:cNvPr id="16" name="TextBox 15"/>
          <p:cNvSpPr txBox="1"/>
          <p:nvPr/>
        </p:nvSpPr>
        <p:spPr>
          <a:xfrm>
            <a:off x="619048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Carga de la línea más exigida</a:t>
            </a:r>
          </a:p>
        </p:txBody>
      </p:sp>
      <p:sp>
        <p:nvSpPr>
          <p:cNvPr id="17" name="Rectangle 16"/>
          <p:cNvSpPr/>
          <p:nvPr/>
        </p:nvSpPr>
        <p:spPr>
          <a:xfrm>
            <a:off x="731520"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Pico S0: 11.750 kW → S1 (3.000): 13.946 kW (+18,7 %).</a:t>
            </a:r>
          </a:p>
        </p:txBody>
      </p:sp>
      <p:sp>
        <p:nvSpPr>
          <p:cNvPr id="19" name="Rectangle 18"/>
          <p:cNvSpPr/>
          <p:nvPr/>
        </p:nvSpPr>
        <p:spPr>
          <a:xfrm>
            <a:off x="4471416"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08576"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Línea más cargada: 96,7 % → 108,9 %.</a:t>
            </a:r>
          </a:p>
        </p:txBody>
      </p:sp>
      <p:sp>
        <p:nvSpPr>
          <p:cNvPr id="21" name="Rectangle 20"/>
          <p:cNvSpPr/>
          <p:nvPr/>
        </p:nvSpPr>
        <p:spPr>
          <a:xfrm>
            <a:off x="8211312"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48472"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Energía diaria de recarga: 27,7 MWh con 3.000 VE.</a:t>
            </a:r>
          </a:p>
        </p:txBody>
      </p:sp>
      <p:sp>
        <p:nvSpPr>
          <p:cNvPr id="23" name="Rectangle 22"/>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results/ieee8500/s1/dados/sobrecarga_por_frota.csv  ·  results/ieee8500/resumo/LEIA-ME.md  ·  results/ieee8500/resumo/1_overload_substation_peak.png  ·  results/ieee8500/resumo/2_overload_line_loading.png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Tensión: comparar ambas condiciones</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14</a:t>
            </a:r>
          </a:p>
        </p:txBody>
      </p:sp>
      <p:sp>
        <p:nvSpPr>
          <p:cNvPr id="11" name="Rounded Rectangle 10"/>
          <p:cNvSpPr/>
          <p:nvPr/>
        </p:nvSpPr>
        <p:spPr>
          <a:xfrm>
            <a:off x="658368" y="1709928"/>
            <a:ext cx="7360920" cy="4087368"/>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3_overload_min_voltage.png"/>
          <p:cNvPicPr>
            <a:picLocks noChangeAspect="1"/>
          </p:cNvPicPr>
          <p:nvPr/>
        </p:nvPicPr>
        <p:blipFill>
          <a:blip r:embed="rId3"/>
          <a:stretch>
            <a:fillRect/>
          </a:stretch>
        </p:blipFill>
        <p:spPr>
          <a:xfrm>
            <a:off x="1031748" y="1769364"/>
            <a:ext cx="6614160" cy="3968496"/>
          </a:xfrm>
          <a:prstGeom prst="rect">
            <a:avLst/>
          </a:prstGeom>
        </p:spPr>
      </p:pic>
      <p:sp>
        <p:nvSpPr>
          <p:cNvPr id="13" name="TextBox 12"/>
          <p:cNvSpPr txBox="1"/>
          <p:nvPr/>
        </p:nvSpPr>
        <p:spPr>
          <a:xfrm>
            <a:off x="658368" y="5833872"/>
            <a:ext cx="736092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Tensión mínima por flota en ambas condiciones</a:t>
            </a:r>
          </a:p>
        </p:txBody>
      </p:sp>
      <p:sp>
        <p:nvSpPr>
          <p:cNvPr id="14" name="Rounded Rectangle 13"/>
          <p:cNvSpPr/>
          <p:nvPr/>
        </p:nvSpPr>
        <p:spPr>
          <a:xfrm>
            <a:off x="8193024" y="1719072"/>
            <a:ext cx="3172968" cy="136245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93024" y="1719072"/>
            <a:ext cx="82296" cy="1362456"/>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5048" y="1883664"/>
            <a:ext cx="2843784" cy="530352"/>
          </a:xfrm>
          <a:prstGeom prst="rect">
            <a:avLst/>
          </a:prstGeom>
          <a:noFill/>
        </p:spPr>
        <p:txBody>
          <a:bodyPr wrap="square" lIns="0" tIns="18288" rIns="0" bIns="18288" anchor="ctr">
            <a:spAutoFit/>
          </a:bodyPr>
          <a:lstStyle/>
          <a:p>
            <a:pPr>
              <a:spcAft>
                <a:spcPts val="0"/>
              </a:spcAft>
              <a:defRPr sz="2900" b="1" i="0">
                <a:solidFill>
                  <a:srgbClr val="2483BC"/>
                </a:solidFill>
                <a:latin typeface="Aptos"/>
              </a:defRPr>
            </a:pPr>
            <a:r>
              <a:t>0,951 pu</a:t>
            </a:r>
          </a:p>
        </p:txBody>
      </p:sp>
      <p:sp>
        <p:nvSpPr>
          <p:cNvPr id="17" name="TextBox 16"/>
          <p:cNvSpPr txBox="1"/>
          <p:nvPr/>
        </p:nvSpPr>
        <p:spPr>
          <a:xfrm>
            <a:off x="8385048" y="2450591"/>
            <a:ext cx="2898648" cy="539496"/>
          </a:xfrm>
          <a:prstGeom prst="rect">
            <a:avLst/>
          </a:prstGeom>
          <a:noFill/>
        </p:spPr>
        <p:txBody>
          <a:bodyPr wrap="square" lIns="0" tIns="18288" rIns="0" bIns="18288" anchor="t">
            <a:spAutoFit/>
          </a:bodyPr>
          <a:lstStyle/>
          <a:p>
            <a:pPr>
              <a:spcAft>
                <a:spcPts val="0"/>
              </a:spcAft>
              <a:defRPr sz="1500" b="0" i="0">
                <a:solidFill>
                  <a:srgbClr val="536276"/>
                </a:solidFill>
                <a:latin typeface="Aptos"/>
              </a:defRPr>
            </a:pPr>
            <a:r>
              <a:t>S0 — con reguladores</a:t>
            </a:r>
          </a:p>
        </p:txBody>
      </p:sp>
      <p:sp>
        <p:nvSpPr>
          <p:cNvPr id="18" name="Rounded Rectangle 17"/>
          <p:cNvSpPr/>
          <p:nvPr/>
        </p:nvSpPr>
        <p:spPr>
          <a:xfrm>
            <a:off x="8193024" y="3172968"/>
            <a:ext cx="3172968" cy="129844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93024" y="3172968"/>
            <a:ext cx="82296" cy="1298448"/>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5048" y="3337560"/>
            <a:ext cx="2843784" cy="530352"/>
          </a:xfrm>
          <a:prstGeom prst="rect">
            <a:avLst/>
          </a:prstGeom>
          <a:noFill/>
        </p:spPr>
        <p:txBody>
          <a:bodyPr wrap="square" lIns="0" tIns="18288" rIns="0" bIns="18288" anchor="ctr">
            <a:spAutoFit/>
          </a:bodyPr>
          <a:lstStyle/>
          <a:p>
            <a:pPr>
              <a:spcAft>
                <a:spcPts val="0"/>
              </a:spcAft>
              <a:defRPr sz="2900" b="1" i="0">
                <a:solidFill>
                  <a:srgbClr val="00A89B"/>
                </a:solidFill>
                <a:latin typeface="Aptos"/>
              </a:defRPr>
            </a:pPr>
            <a:r>
              <a:t>0,933 pu</a:t>
            </a:r>
          </a:p>
        </p:txBody>
      </p:sp>
      <p:sp>
        <p:nvSpPr>
          <p:cNvPr id="21" name="TextBox 20"/>
          <p:cNvSpPr txBox="1"/>
          <p:nvPr/>
        </p:nvSpPr>
        <p:spPr>
          <a:xfrm>
            <a:off x="8385048" y="3904488"/>
            <a:ext cx="2898648" cy="475487"/>
          </a:xfrm>
          <a:prstGeom prst="rect">
            <a:avLst/>
          </a:prstGeom>
          <a:noFill/>
        </p:spPr>
        <p:txBody>
          <a:bodyPr wrap="square" lIns="0" tIns="18288" rIns="0" bIns="18288" anchor="t">
            <a:spAutoFit/>
          </a:bodyPr>
          <a:lstStyle/>
          <a:p>
            <a:pPr>
              <a:spcAft>
                <a:spcPts val="0"/>
              </a:spcAft>
              <a:defRPr sz="1500" b="0" i="0">
                <a:solidFill>
                  <a:srgbClr val="536276"/>
                </a:solidFill>
                <a:latin typeface="Aptos"/>
              </a:defRPr>
            </a:pPr>
            <a:r>
              <a:t>S1 — reguladores en operación</a:t>
            </a:r>
          </a:p>
        </p:txBody>
      </p:sp>
      <p:sp>
        <p:nvSpPr>
          <p:cNvPr id="22" name="Rounded Rectangle 21"/>
          <p:cNvSpPr/>
          <p:nvPr/>
        </p:nvSpPr>
        <p:spPr>
          <a:xfrm>
            <a:off x="8193024" y="4544568"/>
            <a:ext cx="3172968" cy="129844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93024" y="4544568"/>
            <a:ext cx="82296" cy="1298448"/>
          </a:xfrm>
          <a:prstGeom prst="rect">
            <a:avLst/>
          </a:prstGeom>
          <a:solidFill>
            <a:srgbClr val="D96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85048" y="4709159"/>
            <a:ext cx="2843784" cy="530352"/>
          </a:xfrm>
          <a:prstGeom prst="rect">
            <a:avLst/>
          </a:prstGeom>
          <a:noFill/>
        </p:spPr>
        <p:txBody>
          <a:bodyPr wrap="square" lIns="0" tIns="18288" rIns="0" bIns="18288" anchor="ctr">
            <a:spAutoFit/>
          </a:bodyPr>
          <a:lstStyle/>
          <a:p>
            <a:pPr>
              <a:spcAft>
                <a:spcPts val="0"/>
              </a:spcAft>
              <a:defRPr sz="2900" b="1" i="0">
                <a:solidFill>
                  <a:srgbClr val="D96B3D"/>
                </a:solidFill>
                <a:latin typeface="Aptos"/>
              </a:defRPr>
            </a:pPr>
            <a:r>
              <a:t>0,924 pu</a:t>
            </a:r>
          </a:p>
        </p:txBody>
      </p:sp>
      <p:sp>
        <p:nvSpPr>
          <p:cNvPr id="25" name="TextBox 24"/>
          <p:cNvSpPr txBox="1"/>
          <p:nvPr/>
        </p:nvSpPr>
        <p:spPr>
          <a:xfrm>
            <a:off x="8385048" y="5276088"/>
            <a:ext cx="2898648" cy="475487"/>
          </a:xfrm>
          <a:prstGeom prst="rect">
            <a:avLst/>
          </a:prstGeom>
          <a:noFill/>
        </p:spPr>
        <p:txBody>
          <a:bodyPr wrap="square" lIns="0" tIns="18288" rIns="0" bIns="18288" anchor="t">
            <a:spAutoFit/>
          </a:bodyPr>
          <a:lstStyle/>
          <a:p>
            <a:pPr>
              <a:spcAft>
                <a:spcPts val="0"/>
              </a:spcAft>
              <a:defRPr sz="1500" b="0" i="0">
                <a:solidFill>
                  <a:srgbClr val="536276"/>
                </a:solidFill>
                <a:latin typeface="Aptos"/>
              </a:defRPr>
            </a:pPr>
            <a:r>
              <a:t>S1 — taps de S0 fijos</a:t>
            </a:r>
          </a:p>
        </p:txBody>
      </p:sp>
      <p:sp>
        <p:nvSpPr>
          <p:cNvPr id="26" name="TextBox 25"/>
          <p:cNvSpPr txBox="1"/>
          <p:nvPr/>
        </p:nvSpPr>
        <p:spPr>
          <a:xfrm>
            <a:off x="722376" y="6080760"/>
            <a:ext cx="10762488" cy="283464"/>
          </a:xfrm>
          <a:prstGeom prst="rect">
            <a:avLst/>
          </a:prstGeom>
          <a:noFill/>
        </p:spPr>
        <p:txBody>
          <a:bodyPr wrap="square" lIns="0" tIns="18288" rIns="0" bIns="18288" anchor="ctr">
            <a:spAutoFit/>
          </a:bodyPr>
          <a:lstStyle/>
          <a:p>
            <a:pPr>
              <a:spcAft>
                <a:spcPts val="0"/>
              </a:spcAft>
              <a:defRPr sz="1250" b="1" i="0">
                <a:solidFill>
                  <a:srgbClr val="D96B3D"/>
                </a:solidFill>
                <a:latin typeface="Aptos"/>
              </a:defRPr>
            </a:pPr>
            <a:r>
              <a:t>ANSI rango A: 0,95–1,05 pu | PRODIST Mód. 8: referencia comparativa — NO son normas de Honduras.</a:t>
            </a:r>
          </a:p>
        </p:txBody>
      </p:sp>
      <p:sp>
        <p:nvSpPr>
          <p:cNvPr id="27" name="Rectangle 26"/>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results/ieee8500/s1/dados/sobrecarga_por_frota.csv  ·  results/ieee8500/s0_vs_s1/ANALISE.md  ·  results/ieee8500/resumo/3_overload_min_voltage.png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Día crítico en el estudio de 15 min</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15</a:t>
            </a:r>
          </a:p>
        </p:txBody>
      </p:sp>
      <p:sp>
        <p:nvSpPr>
          <p:cNvPr id="11" name="Rounded Rectangle 10"/>
          <p:cNvSpPr/>
          <p:nvPr/>
        </p:nvSpPr>
        <p:spPr>
          <a:xfrm>
            <a:off x="65836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4_day_line_loading.png"/>
          <p:cNvPicPr>
            <a:picLocks noChangeAspect="1"/>
          </p:cNvPicPr>
          <p:nvPr/>
        </p:nvPicPr>
        <p:blipFill>
          <a:blip r:embed="rId3"/>
          <a:stretch>
            <a:fillRect/>
          </a:stretch>
        </p:blipFill>
        <p:spPr>
          <a:xfrm>
            <a:off x="713232" y="2360295"/>
            <a:ext cx="5239512" cy="2183129"/>
          </a:xfrm>
          <a:prstGeom prst="rect">
            <a:avLst/>
          </a:prstGeom>
        </p:spPr>
      </p:pic>
      <p:sp>
        <p:nvSpPr>
          <p:cNvPr id="13" name="TextBox 12"/>
          <p:cNvSpPr txBox="1"/>
          <p:nvPr/>
        </p:nvSpPr>
        <p:spPr>
          <a:xfrm>
            <a:off x="65836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Carga de la línea crítica durante el día</a:t>
            </a:r>
          </a:p>
        </p:txBody>
      </p:sp>
      <p:sp>
        <p:nvSpPr>
          <p:cNvPr id="14" name="Rounded Rectangle 13"/>
          <p:cNvSpPr/>
          <p:nvPr/>
        </p:nvSpPr>
        <p:spPr>
          <a:xfrm>
            <a:off x="619048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5_day_min_voltage.png"/>
          <p:cNvPicPr>
            <a:picLocks noChangeAspect="1"/>
          </p:cNvPicPr>
          <p:nvPr/>
        </p:nvPicPr>
        <p:blipFill>
          <a:blip r:embed="rId4"/>
          <a:stretch>
            <a:fillRect/>
          </a:stretch>
        </p:blipFill>
        <p:spPr>
          <a:xfrm>
            <a:off x="6245352" y="2360295"/>
            <a:ext cx="5239512" cy="2183129"/>
          </a:xfrm>
          <a:prstGeom prst="rect">
            <a:avLst/>
          </a:prstGeom>
        </p:spPr>
      </p:pic>
      <p:sp>
        <p:nvSpPr>
          <p:cNvPr id="16" name="TextBox 15"/>
          <p:cNvSpPr txBox="1"/>
          <p:nvPr/>
        </p:nvSpPr>
        <p:spPr>
          <a:xfrm>
            <a:off x="619048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Tensión mínima durante el día</a:t>
            </a:r>
          </a:p>
        </p:txBody>
      </p:sp>
      <p:sp>
        <p:nvSpPr>
          <p:cNvPr id="17" name="Rectangle 16"/>
          <p:cNvSpPr/>
          <p:nvPr/>
        </p:nvSpPr>
        <p:spPr>
          <a:xfrm>
            <a:off x="731520"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La carga varía en las 96 muestras diarias.</a:t>
            </a:r>
          </a:p>
        </p:txBody>
      </p:sp>
      <p:sp>
        <p:nvSpPr>
          <p:cNvPr id="19" name="Rectangle 18"/>
          <p:cNvSpPr/>
          <p:nvPr/>
        </p:nvSpPr>
        <p:spPr>
          <a:xfrm>
            <a:off x="4471416"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08576"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Con 3.000 VE: 37 líneas superan el 100 % en algún instante.</a:t>
            </a:r>
          </a:p>
        </p:txBody>
      </p:sp>
      <p:sp>
        <p:nvSpPr>
          <p:cNvPr id="21" name="Rectangle 20"/>
          <p:cNvSpPr/>
          <p:nvPr/>
        </p:nvSpPr>
        <p:spPr>
          <a:xfrm>
            <a:off x="8211312"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48472"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La suma diaria alcanza 89,25 línea·h por encima del 100 %.</a:t>
            </a:r>
          </a:p>
        </p:txBody>
      </p:sp>
      <p:sp>
        <p:nvSpPr>
          <p:cNvPr id="23" name="Rectangle 22"/>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results/ieee8500/s0_vs_s1/metrics.csv  ·  results/ieee8500/s0_vs_s1/ANALISE.md  ·  results/ieee8500/resumo/4_day_line_loading.png  ·  results/ieee8500/resumo/5_day_min_voltage.png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S0 × S1: impactos eléctricos espaciales</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16</a:t>
            </a:r>
          </a:p>
        </p:txBody>
      </p:sp>
      <p:sp>
        <p:nvSpPr>
          <p:cNvPr id="11" name="Rounded Rectangle 10"/>
          <p:cNvSpPr/>
          <p:nvPr/>
        </p:nvSpPr>
        <p:spPr>
          <a:xfrm>
            <a:off x="65836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7_voltage_map_S1_3000_evs.png"/>
          <p:cNvPicPr>
            <a:picLocks noChangeAspect="1"/>
          </p:cNvPicPr>
          <p:nvPr/>
        </p:nvPicPr>
        <p:blipFill>
          <a:blip r:embed="rId3"/>
          <a:stretch>
            <a:fillRect/>
          </a:stretch>
        </p:blipFill>
        <p:spPr>
          <a:xfrm>
            <a:off x="1096473" y="1723644"/>
            <a:ext cx="4473029" cy="3456432"/>
          </a:xfrm>
          <a:prstGeom prst="rect">
            <a:avLst/>
          </a:prstGeom>
        </p:spPr>
      </p:pic>
      <p:sp>
        <p:nvSpPr>
          <p:cNvPr id="13" name="TextBox 12"/>
          <p:cNvSpPr txBox="1"/>
          <p:nvPr/>
        </p:nvSpPr>
        <p:spPr>
          <a:xfrm>
            <a:off x="65836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Tensiones por barra durante el pico de S1</a:t>
            </a:r>
          </a:p>
        </p:txBody>
      </p:sp>
      <p:sp>
        <p:nvSpPr>
          <p:cNvPr id="14" name="Rounded Rectangle 13"/>
          <p:cNvSpPr/>
          <p:nvPr/>
        </p:nvSpPr>
        <p:spPr>
          <a:xfrm>
            <a:off x="6190488" y="1664208"/>
            <a:ext cx="5349240" cy="3575304"/>
          </a:xfrm>
          <a:prstGeom prst="roundRect">
            <a:avLst>
              <a:gd name="adj" fmla="val 10000"/>
            </a:avLst>
          </a:prstGeom>
          <a:solidFill>
            <a:srgbClr val="FFFFFF"/>
          </a:solidFill>
          <a:ln w="1016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8_line_loading_S1_3000_evs.png"/>
          <p:cNvPicPr>
            <a:picLocks noChangeAspect="1"/>
          </p:cNvPicPr>
          <p:nvPr/>
        </p:nvPicPr>
        <p:blipFill>
          <a:blip r:embed="rId4"/>
          <a:stretch>
            <a:fillRect/>
          </a:stretch>
        </p:blipFill>
        <p:spPr>
          <a:xfrm>
            <a:off x="6628593" y="1723644"/>
            <a:ext cx="4473029" cy="3456432"/>
          </a:xfrm>
          <a:prstGeom prst="rect">
            <a:avLst/>
          </a:prstGeom>
        </p:spPr>
      </p:pic>
      <p:sp>
        <p:nvSpPr>
          <p:cNvPr id="16" name="TextBox 15"/>
          <p:cNvSpPr txBox="1"/>
          <p:nvPr/>
        </p:nvSpPr>
        <p:spPr>
          <a:xfrm>
            <a:off x="6190488" y="5276088"/>
            <a:ext cx="5349240" cy="246888"/>
          </a:xfrm>
          <a:prstGeom prst="rect">
            <a:avLst/>
          </a:prstGeom>
          <a:noFill/>
        </p:spPr>
        <p:txBody>
          <a:bodyPr wrap="square" lIns="0" tIns="18288" rIns="0" bIns="18288" anchor="ctr">
            <a:spAutoFit/>
          </a:bodyPr>
          <a:lstStyle/>
          <a:p>
            <a:pPr algn="ctr">
              <a:spcAft>
                <a:spcPts val="0"/>
              </a:spcAft>
              <a:defRPr sz="1200" b="1" i="0">
                <a:solidFill>
                  <a:srgbClr val="536276"/>
                </a:solidFill>
                <a:latin typeface="Aptos"/>
              </a:defRPr>
            </a:pPr>
            <a:r>
              <a:t>Carga de líneas durante el pico de S1</a:t>
            </a:r>
          </a:p>
        </p:txBody>
      </p:sp>
      <p:sp>
        <p:nvSpPr>
          <p:cNvPr id="17" name="Rectangle 16"/>
          <p:cNvSpPr/>
          <p:nvPr/>
        </p:nvSpPr>
        <p:spPr>
          <a:xfrm>
            <a:off x="731520"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0 → 236 barras caen por debajo de 0,95 pu en algún momento.</a:t>
            </a:r>
          </a:p>
        </p:txBody>
      </p:sp>
      <p:sp>
        <p:nvSpPr>
          <p:cNvPr id="19" name="Rectangle 18"/>
          <p:cNvSpPr/>
          <p:nvPr/>
        </p:nvSpPr>
        <p:spPr>
          <a:xfrm>
            <a:off x="4471416"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08576"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0 → 137 usuarios conectados a barras con tensión inferior a 0,95 pu.</a:t>
            </a:r>
          </a:p>
        </p:txBody>
      </p:sp>
      <p:sp>
        <p:nvSpPr>
          <p:cNvPr id="21" name="Rectangle 20"/>
          <p:cNvSpPr/>
          <p:nvPr/>
        </p:nvSpPr>
        <p:spPr>
          <a:xfrm>
            <a:off x="8211312" y="5687568"/>
            <a:ext cx="68580" cy="8229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48472" y="5477256"/>
            <a:ext cx="3493008" cy="713232"/>
          </a:xfrm>
          <a:prstGeom prst="rect">
            <a:avLst/>
          </a:prstGeom>
          <a:noFill/>
        </p:spPr>
        <p:txBody>
          <a:bodyPr wrap="square" lIns="0" tIns="18288" rIns="0" bIns="18288" anchor="ctr">
            <a:spAutoFit/>
          </a:bodyPr>
          <a:lstStyle/>
          <a:p>
            <a:pPr>
              <a:spcAft>
                <a:spcPts val="0"/>
              </a:spcAft>
              <a:defRPr sz="1800" b="0" i="0">
                <a:solidFill>
                  <a:srgbClr val="0A1428"/>
                </a:solidFill>
                <a:latin typeface="Aptos"/>
              </a:defRPr>
            </a:pPr>
            <a:r>
              <a:t>Pérdidas diarias: 14,3 → 17,8 MWh (+24,4 %).</a:t>
            </a:r>
          </a:p>
        </p:txBody>
      </p:sp>
      <p:sp>
        <p:nvSpPr>
          <p:cNvPr id="23" name="Rectangle 22"/>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results/ieee8500/s0_vs_s1/metrics.csv  ·  results/ieee8500/s0_vs_s1/ANALISE.md  ·  results/ieee8500/resumo/7_voltage_map_S1_3000_evs.png  ·  results/ieee8500/resumo/8_line_loading_S1_3000_evs.png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Validación: avances y pendientes</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EVCS · 15 MIN</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17</a:t>
            </a:r>
          </a:p>
        </p:txBody>
      </p:sp>
      <p:sp>
        <p:nvSpPr>
          <p:cNvPr id="11" name="Rounded Rectangle 10"/>
          <p:cNvSpPr/>
          <p:nvPr/>
        </p:nvSpPr>
        <p:spPr>
          <a:xfrm>
            <a:off x="704088" y="1655064"/>
            <a:ext cx="3255264" cy="159105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4088" y="1655064"/>
            <a:ext cx="82296" cy="1591056"/>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1819656"/>
            <a:ext cx="2926080" cy="530352"/>
          </a:xfrm>
          <a:prstGeom prst="rect">
            <a:avLst/>
          </a:prstGeom>
          <a:noFill/>
        </p:spPr>
        <p:txBody>
          <a:bodyPr wrap="square" lIns="0" tIns="18288" rIns="0" bIns="18288" anchor="ctr">
            <a:spAutoFit/>
          </a:bodyPr>
          <a:lstStyle/>
          <a:p>
            <a:pPr>
              <a:spcAft>
                <a:spcPts val="0"/>
              </a:spcAft>
              <a:defRPr sz="3100" b="1" i="0">
                <a:solidFill>
                  <a:srgbClr val="00A89B"/>
                </a:solidFill>
                <a:latin typeface="Aptos"/>
              </a:defRPr>
            </a:pPr>
            <a:r>
              <a:t>75 + 22</a:t>
            </a:r>
          </a:p>
        </p:txBody>
      </p:sp>
      <p:sp>
        <p:nvSpPr>
          <p:cNvPr id="14" name="TextBox 13"/>
          <p:cNvSpPr txBox="1"/>
          <p:nvPr/>
        </p:nvSpPr>
        <p:spPr>
          <a:xfrm>
            <a:off x="896112" y="2386584"/>
            <a:ext cx="2980944" cy="768096"/>
          </a:xfrm>
          <a:prstGeom prst="rect">
            <a:avLst/>
          </a:prstGeom>
          <a:noFill/>
        </p:spPr>
        <p:txBody>
          <a:bodyPr wrap="square" lIns="0" tIns="18288" rIns="0" bIns="18288" anchor="t">
            <a:spAutoFit/>
          </a:bodyPr>
          <a:lstStyle/>
          <a:p>
            <a:pPr>
              <a:spcAft>
                <a:spcPts val="0"/>
              </a:spcAft>
              <a:defRPr sz="1600" b="0" i="0">
                <a:solidFill>
                  <a:srgbClr val="536276"/>
                </a:solidFill>
                <a:latin typeface="Aptos"/>
              </a:defRPr>
            </a:pPr>
            <a:r>
              <a:t>pruebas y subpruebas documentadas</a:t>
            </a:r>
          </a:p>
        </p:txBody>
      </p:sp>
      <p:sp>
        <p:nvSpPr>
          <p:cNvPr id="15" name="Rounded Rectangle 14"/>
          <p:cNvSpPr/>
          <p:nvPr/>
        </p:nvSpPr>
        <p:spPr>
          <a:xfrm>
            <a:off x="4078224" y="1655064"/>
            <a:ext cx="3255264" cy="159105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078224" y="1655064"/>
            <a:ext cx="82296" cy="1591056"/>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70248" y="1819656"/>
            <a:ext cx="2926080" cy="530352"/>
          </a:xfrm>
          <a:prstGeom prst="rect">
            <a:avLst/>
          </a:prstGeom>
          <a:noFill/>
        </p:spPr>
        <p:txBody>
          <a:bodyPr wrap="square" lIns="0" tIns="18288" rIns="0" bIns="18288" anchor="ctr">
            <a:spAutoFit/>
          </a:bodyPr>
          <a:lstStyle/>
          <a:p>
            <a:pPr>
              <a:spcAft>
                <a:spcPts val="0"/>
              </a:spcAft>
              <a:defRPr sz="2800" b="1" i="0">
                <a:solidFill>
                  <a:srgbClr val="2483BC"/>
                </a:solidFill>
                <a:latin typeface="Aptos"/>
              </a:defRPr>
            </a:pPr>
            <a:r>
              <a:t>0,001 kW</a:t>
            </a:r>
          </a:p>
        </p:txBody>
      </p:sp>
      <p:sp>
        <p:nvSpPr>
          <p:cNvPr id="18" name="TextBox 17"/>
          <p:cNvSpPr txBox="1"/>
          <p:nvPr/>
        </p:nvSpPr>
        <p:spPr>
          <a:xfrm>
            <a:off x="4270248" y="2386584"/>
            <a:ext cx="2980944" cy="768096"/>
          </a:xfrm>
          <a:prstGeom prst="rect">
            <a:avLst/>
          </a:prstGeom>
          <a:noFill/>
        </p:spPr>
        <p:txBody>
          <a:bodyPr wrap="square" lIns="0" tIns="18288" rIns="0" bIns="18288" anchor="t">
            <a:spAutoFit/>
          </a:bodyPr>
          <a:lstStyle/>
          <a:p>
            <a:pPr>
              <a:spcAft>
                <a:spcPts val="0"/>
              </a:spcAft>
              <a:defRPr sz="1510" b="0" i="0">
                <a:solidFill>
                  <a:srgbClr val="536276"/>
                </a:solidFill>
                <a:latin typeface="Aptos"/>
              </a:defRPr>
            </a:pPr>
            <a:r>
              <a:t>error máximo del balance activo en las pruebas</a:t>
            </a:r>
          </a:p>
        </p:txBody>
      </p:sp>
      <p:sp>
        <p:nvSpPr>
          <p:cNvPr id="19" name="Rounded Rectangle 18"/>
          <p:cNvSpPr/>
          <p:nvPr/>
        </p:nvSpPr>
        <p:spPr>
          <a:xfrm>
            <a:off x="7452360" y="1655064"/>
            <a:ext cx="3995928" cy="159105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2360" y="1655064"/>
            <a:ext cx="82296" cy="1591056"/>
          </a:xfrm>
          <a:prstGeom prst="rect">
            <a:avLst/>
          </a:prstGeom>
          <a:solidFill>
            <a:srgbClr val="D96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44384" y="1819656"/>
            <a:ext cx="3666744" cy="530352"/>
          </a:xfrm>
          <a:prstGeom prst="rect">
            <a:avLst/>
          </a:prstGeom>
          <a:noFill/>
        </p:spPr>
        <p:txBody>
          <a:bodyPr wrap="square" lIns="0" tIns="18288" rIns="0" bIns="18288" anchor="ctr">
            <a:spAutoFit/>
          </a:bodyPr>
          <a:lstStyle/>
          <a:p>
            <a:pPr>
              <a:spcAft>
                <a:spcPts val="0"/>
              </a:spcAft>
              <a:defRPr sz="2300" b="1" i="0">
                <a:solidFill>
                  <a:srgbClr val="D96B3D"/>
                </a:solidFill>
                <a:latin typeface="Aptos"/>
              </a:defRPr>
            </a:pPr>
            <a:r>
              <a:t>[PENDIENTE]</a:t>
            </a:r>
          </a:p>
        </p:txBody>
      </p:sp>
      <p:sp>
        <p:nvSpPr>
          <p:cNvPr id="22" name="TextBox 21"/>
          <p:cNvSpPr txBox="1"/>
          <p:nvPr/>
        </p:nvSpPr>
        <p:spPr>
          <a:xfrm>
            <a:off x="7644384" y="2386584"/>
            <a:ext cx="3721608" cy="768096"/>
          </a:xfrm>
          <a:prstGeom prst="rect">
            <a:avLst/>
          </a:prstGeom>
          <a:noFill/>
        </p:spPr>
        <p:txBody>
          <a:bodyPr wrap="square" lIns="0" tIns="18288" rIns="0" bIns="18288" anchor="t">
            <a:spAutoFit/>
          </a:bodyPr>
          <a:lstStyle/>
          <a:p>
            <a:pPr>
              <a:spcAft>
                <a:spcPts val="0"/>
              </a:spcAft>
              <a:defRPr sz="1500" b="0" i="0">
                <a:solidFill>
                  <a:srgbClr val="536276"/>
                </a:solidFill>
                <a:latin typeface="Aptos"/>
              </a:defRPr>
            </a:pPr>
            <a:r>
              <a:t>validación externa y estudio completo S0–S4</a:t>
            </a:r>
          </a:p>
        </p:txBody>
      </p:sp>
      <p:sp>
        <p:nvSpPr>
          <p:cNvPr id="23" name="Rounded Rectangle 22"/>
          <p:cNvSpPr/>
          <p:nvPr/>
        </p:nvSpPr>
        <p:spPr>
          <a:xfrm>
            <a:off x="722376" y="3474720"/>
            <a:ext cx="5212080" cy="216712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 y="3648456"/>
            <a:ext cx="4663440" cy="393192"/>
          </a:xfrm>
          <a:prstGeom prst="rect">
            <a:avLst/>
          </a:prstGeom>
          <a:noFill/>
        </p:spPr>
        <p:txBody>
          <a:bodyPr wrap="square" lIns="0" tIns="18288" rIns="0" bIns="18288" anchor="ctr">
            <a:spAutoFit/>
          </a:bodyPr>
          <a:lstStyle/>
          <a:p>
            <a:pPr>
              <a:spcAft>
                <a:spcPts val="0"/>
              </a:spcAft>
              <a:defRPr sz="1900" b="1" i="0">
                <a:solidFill>
                  <a:srgbClr val="00A89B"/>
                </a:solidFill>
                <a:latin typeface="Aptos"/>
              </a:defRPr>
            </a:pPr>
            <a:r>
              <a:t>VERIFICADO EN EL SOFTWARE</a:t>
            </a:r>
          </a:p>
        </p:txBody>
      </p:sp>
      <p:sp>
        <p:nvSpPr>
          <p:cNvPr id="25" name="Rectangle 24"/>
          <p:cNvSpPr/>
          <p:nvPr/>
        </p:nvSpPr>
        <p:spPr>
          <a:xfrm>
            <a:off x="1024128" y="4293108"/>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25296" y="4105656"/>
            <a:ext cx="4398264" cy="397764"/>
          </a:xfrm>
          <a:prstGeom prst="rect">
            <a:avLst/>
          </a:prstGeom>
          <a:noFill/>
        </p:spPr>
        <p:txBody>
          <a:bodyPr wrap="square" lIns="0" tIns="18288" rIns="0" bIns="18288" anchor="ctr">
            <a:spAutoFit/>
          </a:bodyPr>
          <a:lstStyle/>
          <a:p>
            <a:pPr>
              <a:spcAft>
                <a:spcPts val="0"/>
              </a:spcAft>
              <a:defRPr sz="1670" b="0" i="0">
                <a:solidFill>
                  <a:srgbClr val="182538"/>
                </a:solidFill>
                <a:latin typeface="Aptos"/>
              </a:defRPr>
            </a:pPr>
            <a:r>
              <a:t>Contratos e independencia de módulos</a:t>
            </a:r>
          </a:p>
        </p:txBody>
      </p:sp>
      <p:sp>
        <p:nvSpPr>
          <p:cNvPr id="27" name="Rectangle 26"/>
          <p:cNvSpPr/>
          <p:nvPr/>
        </p:nvSpPr>
        <p:spPr>
          <a:xfrm>
            <a:off x="1024128" y="4732020"/>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25296" y="4544568"/>
            <a:ext cx="4398264" cy="397764"/>
          </a:xfrm>
          <a:prstGeom prst="rect">
            <a:avLst/>
          </a:prstGeom>
          <a:noFill/>
        </p:spPr>
        <p:txBody>
          <a:bodyPr wrap="square" lIns="0" tIns="18288" rIns="0" bIns="18288" anchor="ctr">
            <a:spAutoFit/>
          </a:bodyPr>
          <a:lstStyle/>
          <a:p>
            <a:pPr>
              <a:spcAft>
                <a:spcPts val="0"/>
              </a:spcAft>
              <a:defRPr sz="1670" b="0" i="0">
                <a:solidFill>
                  <a:srgbClr val="182538"/>
                </a:solidFill>
                <a:latin typeface="Aptos"/>
              </a:defRPr>
            </a:pPr>
            <a:r>
              <a:t>Potencia/SOC/puertos y pruebas de integración</a:t>
            </a:r>
          </a:p>
        </p:txBody>
      </p:sp>
      <p:sp>
        <p:nvSpPr>
          <p:cNvPr id="29" name="Rectangle 28"/>
          <p:cNvSpPr/>
          <p:nvPr/>
        </p:nvSpPr>
        <p:spPr>
          <a:xfrm>
            <a:off x="1024128" y="5170932"/>
            <a:ext cx="68580" cy="685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25296" y="4983480"/>
            <a:ext cx="4398264" cy="397764"/>
          </a:xfrm>
          <a:prstGeom prst="rect">
            <a:avLst/>
          </a:prstGeom>
          <a:noFill/>
        </p:spPr>
        <p:txBody>
          <a:bodyPr wrap="square" lIns="0" tIns="18288" rIns="0" bIns="18288" anchor="ctr">
            <a:spAutoFit/>
          </a:bodyPr>
          <a:lstStyle/>
          <a:p>
            <a:pPr>
              <a:spcAft>
                <a:spcPts val="0"/>
              </a:spcAft>
              <a:defRPr sz="1670" b="0" i="0">
                <a:solidFill>
                  <a:srgbClr val="182538"/>
                </a:solidFill>
                <a:latin typeface="Aptos"/>
              </a:defRPr>
            </a:pPr>
            <a:r>
              <a:t>Paralelo equivalente al secuencial</a:t>
            </a:r>
          </a:p>
        </p:txBody>
      </p:sp>
      <p:sp>
        <p:nvSpPr>
          <p:cNvPr id="31" name="Rounded Rectangle 30"/>
          <p:cNvSpPr/>
          <p:nvPr/>
        </p:nvSpPr>
        <p:spPr>
          <a:xfrm>
            <a:off x="6080760" y="3474720"/>
            <a:ext cx="5376672" cy="2167128"/>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18504" y="3648456"/>
            <a:ext cx="4764024" cy="393192"/>
          </a:xfrm>
          <a:prstGeom prst="rect">
            <a:avLst/>
          </a:prstGeom>
          <a:noFill/>
        </p:spPr>
        <p:txBody>
          <a:bodyPr wrap="square" lIns="0" tIns="18288" rIns="0" bIns="18288" anchor="ctr">
            <a:spAutoFit/>
          </a:bodyPr>
          <a:lstStyle/>
          <a:p>
            <a:pPr>
              <a:spcAft>
                <a:spcPts val="0"/>
              </a:spcAft>
              <a:defRPr sz="1900" b="1" i="0">
                <a:solidFill>
                  <a:srgbClr val="D96B3D"/>
                </a:solidFill>
                <a:latin typeface="Aptos"/>
              </a:defRPr>
            </a:pPr>
            <a:r>
              <a:t>TODAVÍA SIN VALIDAR</a:t>
            </a:r>
          </a:p>
        </p:txBody>
      </p:sp>
      <p:sp>
        <p:nvSpPr>
          <p:cNvPr id="33" name="Rectangle 32"/>
          <p:cNvSpPr/>
          <p:nvPr/>
        </p:nvSpPr>
        <p:spPr>
          <a:xfrm>
            <a:off x="6391656" y="4293108"/>
            <a:ext cx="68580" cy="68580"/>
          </a:xfrm>
          <a:prstGeom prst="rect">
            <a:avLst/>
          </a:prstGeom>
          <a:solidFill>
            <a:srgbClr val="D96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92824" y="4105656"/>
            <a:ext cx="4443984" cy="397764"/>
          </a:xfrm>
          <a:prstGeom prst="rect">
            <a:avLst/>
          </a:prstGeom>
          <a:noFill/>
        </p:spPr>
        <p:txBody>
          <a:bodyPr wrap="square" lIns="0" tIns="18288" rIns="0" bIns="18288" anchor="ctr">
            <a:spAutoFit/>
          </a:bodyPr>
          <a:lstStyle/>
          <a:p>
            <a:pPr>
              <a:spcAft>
                <a:spcPts val="0"/>
              </a:spcAft>
              <a:defRPr sz="1670" b="0" i="0">
                <a:solidFill>
                  <a:srgbClr val="182538"/>
                </a:solidFill>
                <a:latin typeface="Aptos"/>
              </a:defRPr>
            </a:pPr>
            <a:r>
              <a:t>Equivalencia eléctrica con OpenDSS</a:t>
            </a:r>
          </a:p>
        </p:txBody>
      </p:sp>
      <p:sp>
        <p:nvSpPr>
          <p:cNvPr id="35" name="Rectangle 34"/>
          <p:cNvSpPr/>
          <p:nvPr/>
        </p:nvSpPr>
        <p:spPr>
          <a:xfrm>
            <a:off x="6391656" y="4732020"/>
            <a:ext cx="68580" cy="68580"/>
          </a:xfrm>
          <a:prstGeom prst="rect">
            <a:avLst/>
          </a:prstGeom>
          <a:solidFill>
            <a:srgbClr val="D96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92824" y="4544568"/>
            <a:ext cx="4443984" cy="397764"/>
          </a:xfrm>
          <a:prstGeom prst="rect">
            <a:avLst/>
          </a:prstGeom>
          <a:noFill/>
        </p:spPr>
        <p:txBody>
          <a:bodyPr wrap="square" lIns="0" tIns="18288" rIns="0" bIns="18288" anchor="ctr">
            <a:spAutoFit/>
          </a:bodyPr>
          <a:lstStyle/>
          <a:p>
            <a:pPr>
              <a:spcAft>
                <a:spcPts val="0"/>
              </a:spcAft>
              <a:defRPr sz="1670" b="0" i="0">
                <a:solidFill>
                  <a:srgbClr val="182538"/>
                </a:solidFill>
                <a:latin typeface="Aptos"/>
              </a:defRPr>
            </a:pPr>
            <a:r>
              <a:t>Error por componentes de secuencia</a:t>
            </a:r>
          </a:p>
        </p:txBody>
      </p:sp>
      <p:sp>
        <p:nvSpPr>
          <p:cNvPr id="37" name="Rectangle 36"/>
          <p:cNvSpPr/>
          <p:nvPr/>
        </p:nvSpPr>
        <p:spPr>
          <a:xfrm>
            <a:off x="6391656" y="5170932"/>
            <a:ext cx="68580" cy="68580"/>
          </a:xfrm>
          <a:prstGeom prst="rect">
            <a:avLst/>
          </a:prstGeom>
          <a:solidFill>
            <a:srgbClr val="D96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92824" y="4983480"/>
            <a:ext cx="4443984" cy="397764"/>
          </a:xfrm>
          <a:prstGeom prst="rect">
            <a:avLst/>
          </a:prstGeom>
          <a:noFill/>
        </p:spPr>
        <p:txBody>
          <a:bodyPr wrap="square" lIns="0" tIns="18288" rIns="0" bIns="18288" anchor="ctr">
            <a:spAutoFit/>
          </a:bodyPr>
          <a:lstStyle/>
          <a:p>
            <a:pPr>
              <a:spcAft>
                <a:spcPts val="0"/>
              </a:spcAft>
              <a:defRPr sz="1670" b="0" i="0">
                <a:solidFill>
                  <a:srgbClr val="182538"/>
                </a:solidFill>
                <a:latin typeface="Aptos"/>
              </a:defRPr>
            </a:pPr>
            <a:r>
              <a:t>Datos locales y múltiples semillas</a:t>
            </a:r>
          </a:p>
        </p:txBody>
      </p:sp>
      <p:sp>
        <p:nvSpPr>
          <p:cNvPr id="39" name="TextBox 38"/>
          <p:cNvSpPr txBox="1"/>
          <p:nvPr/>
        </p:nvSpPr>
        <p:spPr>
          <a:xfrm>
            <a:off x="896112" y="5843016"/>
            <a:ext cx="10058400" cy="292608"/>
          </a:xfrm>
          <a:prstGeom prst="rect">
            <a:avLst/>
          </a:prstGeom>
          <a:noFill/>
        </p:spPr>
        <p:txBody>
          <a:bodyPr wrap="square" lIns="0" tIns="18288" rIns="0" bIns="18288" anchor="ctr">
            <a:spAutoFit/>
          </a:bodyPr>
          <a:lstStyle/>
          <a:p>
            <a:pPr>
              <a:spcAft>
                <a:spcPts val="0"/>
              </a:spcAft>
              <a:defRPr sz="1800" b="1" i="0">
                <a:solidFill>
                  <a:srgbClr val="0A1428"/>
                </a:solidFill>
                <a:latin typeface="Aptos"/>
              </a:defRPr>
            </a:pPr>
            <a:r>
              <a:t>Prueba de integración ≠ ejecución científica final S0–S4.</a:t>
            </a:r>
          </a:p>
        </p:txBody>
      </p:sp>
      <p:sp>
        <p:nvSpPr>
          <p:cNvPr id="40" name="Rectangle 39"/>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docs/validation.md  ·  tests/test_integration.py  ·  data/ieee8500/README.md  ·  results/ieee8500/resumo/LEIA-ME.md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Próximos pasos: S2 → S3 → S4</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INTEGRACIÓN · PENDIENTE</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20</a:t>
            </a:r>
          </a:p>
        </p:txBody>
      </p:sp>
      <p:sp>
        <p:nvSpPr>
          <p:cNvPr id="11" name="Rounded Rectangle 10"/>
          <p:cNvSpPr/>
          <p:nvPr/>
        </p:nvSpPr>
        <p:spPr>
          <a:xfrm>
            <a:off x="704088"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4088" y="1755648"/>
            <a:ext cx="3529584" cy="100584"/>
          </a:xfrm>
          <a:prstGeom prst="rect">
            <a:avLst/>
          </a:prstGeom>
          <a:solidFill>
            <a:srgbClr val="665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1993392"/>
            <a:ext cx="3054096" cy="429768"/>
          </a:xfrm>
          <a:prstGeom prst="rect">
            <a:avLst/>
          </a:prstGeom>
          <a:noFill/>
        </p:spPr>
        <p:txBody>
          <a:bodyPr wrap="square" lIns="0" tIns="18288" rIns="0" bIns="18288" anchor="ctr">
            <a:spAutoFit/>
          </a:bodyPr>
          <a:lstStyle/>
          <a:p>
            <a:pPr>
              <a:spcAft>
                <a:spcPts val="0"/>
              </a:spcAft>
              <a:defRPr sz="1900" b="1" i="0">
                <a:solidFill>
                  <a:srgbClr val="665EC5"/>
                </a:solidFill>
                <a:latin typeface="Aptos"/>
              </a:defRPr>
            </a:pPr>
            <a:r>
              <a:t>S2  ·  KENIA</a:t>
            </a:r>
          </a:p>
        </p:txBody>
      </p:sp>
      <p:sp>
        <p:nvSpPr>
          <p:cNvPr id="14" name="TextBox 13"/>
          <p:cNvSpPr txBox="1"/>
          <p:nvPr/>
        </p:nvSpPr>
        <p:spPr>
          <a:xfrm>
            <a:off x="914400"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BESS</a:t>
            </a:r>
          </a:p>
        </p:txBody>
      </p:sp>
      <p:sp>
        <p:nvSpPr>
          <p:cNvPr id="15" name="TextBox 14"/>
          <p:cNvSpPr txBox="1"/>
          <p:nvPr/>
        </p:nvSpPr>
        <p:spPr>
          <a:xfrm>
            <a:off x="923544"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t>Base 40 kW / 120 kWh: redimensionar; definir barra, despacho y SOC final.</a:t>
            </a:r>
          </a:p>
        </p:txBody>
      </p:sp>
      <p:sp>
        <p:nvSpPr>
          <p:cNvPr id="16" name="Rounded Rectangle 15"/>
          <p:cNvSpPr/>
          <p:nvPr/>
        </p:nvSpPr>
        <p:spPr>
          <a:xfrm>
            <a:off x="4507992"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07992" y="1755648"/>
            <a:ext cx="3529584" cy="100584"/>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27448" y="1993392"/>
            <a:ext cx="3054096" cy="429768"/>
          </a:xfrm>
          <a:prstGeom prst="rect">
            <a:avLst/>
          </a:prstGeom>
          <a:noFill/>
        </p:spPr>
        <p:txBody>
          <a:bodyPr wrap="square" lIns="0" tIns="18288" rIns="0" bIns="18288" anchor="ctr">
            <a:spAutoFit/>
          </a:bodyPr>
          <a:lstStyle/>
          <a:p>
            <a:pPr>
              <a:spcAft>
                <a:spcPts val="0"/>
              </a:spcAft>
              <a:defRPr sz="1900" b="1" i="0">
                <a:solidFill>
                  <a:srgbClr val="2483BC"/>
                </a:solidFill>
                <a:latin typeface="Aptos"/>
              </a:defRPr>
            </a:pPr>
            <a:r>
              <a:t>S3  ·  CESAR</a:t>
            </a:r>
          </a:p>
        </p:txBody>
      </p:sp>
      <p:sp>
        <p:nvSpPr>
          <p:cNvPr id="19" name="TextBox 18"/>
          <p:cNvSpPr txBox="1"/>
          <p:nvPr/>
        </p:nvSpPr>
        <p:spPr>
          <a:xfrm>
            <a:off x="4718304"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V2G</a:t>
            </a:r>
          </a:p>
        </p:txBody>
      </p:sp>
      <p:sp>
        <p:nvSpPr>
          <p:cNvPr id="20" name="TextBox 19"/>
          <p:cNvSpPr txBox="1"/>
          <p:nvPr/>
        </p:nvSpPr>
        <p:spPr>
          <a:xfrm>
            <a:off x="4727448"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t>Base de 3 vehículos: ampliar flota, disponibilidad, reserva y puertos bidireccionales.</a:t>
            </a:r>
          </a:p>
        </p:txBody>
      </p:sp>
      <p:sp>
        <p:nvSpPr>
          <p:cNvPr id="21" name="Rounded Rectangle 20"/>
          <p:cNvSpPr/>
          <p:nvPr/>
        </p:nvSpPr>
        <p:spPr>
          <a:xfrm>
            <a:off x="8311896"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311896" y="1755648"/>
            <a:ext cx="3529584" cy="100584"/>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31352" y="1993392"/>
            <a:ext cx="3054096" cy="429768"/>
          </a:xfrm>
          <a:prstGeom prst="rect">
            <a:avLst/>
          </a:prstGeom>
          <a:noFill/>
        </p:spPr>
        <p:txBody>
          <a:bodyPr wrap="square" lIns="0" tIns="18288" rIns="0" bIns="18288" anchor="ctr">
            <a:spAutoFit/>
          </a:bodyPr>
          <a:lstStyle/>
          <a:p>
            <a:pPr>
              <a:spcAft>
                <a:spcPts val="0"/>
              </a:spcAft>
              <a:defRPr sz="1900" b="1" i="0">
                <a:solidFill>
                  <a:srgbClr val="00A89B"/>
                </a:solidFill>
                <a:latin typeface="Aptos"/>
              </a:defRPr>
            </a:pPr>
            <a:r>
              <a:t>S4  ·  EQUIPO</a:t>
            </a:r>
          </a:p>
        </p:txBody>
      </p:sp>
      <p:sp>
        <p:nvSpPr>
          <p:cNvPr id="24" name="TextBox 23"/>
          <p:cNvSpPr txBox="1"/>
          <p:nvPr/>
        </p:nvSpPr>
        <p:spPr>
          <a:xfrm>
            <a:off x="8522208"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INTEGRACIÓN</a:t>
            </a:r>
          </a:p>
        </p:txBody>
      </p:sp>
      <p:sp>
        <p:nvSpPr>
          <p:cNvPr id="25" name="TextBox 24"/>
          <p:cNvSpPr txBox="1"/>
          <p:nvPr/>
        </p:nvSpPr>
        <p:spPr>
          <a:xfrm>
            <a:off x="8531352"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t>Combinar módulos completos y comparar indicadores con igual resolución temporal.</a:t>
            </a:r>
          </a:p>
        </p:txBody>
      </p:sp>
      <p:sp>
        <p:nvSpPr>
          <p:cNvPr id="26" name="Rounded Rectangle 25"/>
          <p:cNvSpPr/>
          <p:nvPr/>
        </p:nvSpPr>
        <p:spPr>
          <a:xfrm>
            <a:off x="713232" y="5029200"/>
            <a:ext cx="10698480" cy="740664"/>
          </a:xfrm>
          <a:prstGeom prst="roundRect">
            <a:avLst>
              <a:gd name="adj" fmla="val 10000"/>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5120640"/>
            <a:ext cx="10314432" cy="530352"/>
          </a:xfrm>
          <a:prstGeom prst="rect">
            <a:avLst/>
          </a:prstGeom>
          <a:noFill/>
        </p:spPr>
        <p:txBody>
          <a:bodyPr wrap="square" lIns="0" tIns="18288" rIns="0" bIns="18288" anchor="ctr">
            <a:spAutoFit/>
          </a:bodyPr>
          <a:lstStyle/>
          <a:p>
            <a:pPr algn="ctr">
              <a:spcAft>
                <a:spcPts val="0"/>
              </a:spcAft>
              <a:defRPr sz="1800" b="1" i="0">
                <a:solidFill>
                  <a:srgbClr val="FFFFFF"/>
                </a:solidFill>
                <a:latin typeface="Aptos"/>
              </a:defRPr>
            </a:pPr>
            <a:r>
              <a:t>INTEGRACIÓN DE 1 h AÚN NO EJECUTADA — NO HAY RESULTADOS S2 / S3 / S4</a:t>
            </a:r>
          </a:p>
        </p:txBody>
      </p:sp>
      <p:sp>
        <p:nvSpPr>
          <p:cNvPr id="28" name="TextBox 27"/>
          <p:cNvSpPr txBox="1"/>
          <p:nvPr/>
        </p:nvSpPr>
        <p:spPr>
          <a:xfrm>
            <a:off x="832104" y="5934456"/>
            <a:ext cx="10698480" cy="283464"/>
          </a:xfrm>
          <a:prstGeom prst="rect">
            <a:avLst/>
          </a:prstGeom>
          <a:noFill/>
        </p:spPr>
        <p:txBody>
          <a:bodyPr wrap="square" lIns="0" tIns="18288" rIns="0" bIns="18288" anchor="ctr">
            <a:spAutoFit/>
          </a:bodyPr>
          <a:lstStyle/>
          <a:p>
            <a:pPr>
              <a:spcAft>
                <a:spcPts val="0"/>
              </a:spcAft>
              <a:defRPr sz="1280" b="1" i="0">
                <a:solidFill>
                  <a:srgbClr val="00A89B"/>
                </a:solidFill>
                <a:latin typeface="Consolas"/>
              </a:defRPr>
            </a:pPr>
            <a:r>
              <a:t>Siguiente comando: python -m integration.coordinator --output results/ieee8500/integration --frozen-taps</a:t>
            </a:r>
          </a:p>
        </p:txBody>
      </p:sp>
      <p:sp>
        <p:nvSpPr>
          <p:cNvPr id="29" name="Rectangle 28"/>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docs/S2_BESS_Kenia.md  ·  docs/S3_V2G_Cesar.md  ·  configs/bess.yaml  ·  configs/v2g.yaml  ·  src/integration/coordinator.py  ·  results/ieee8500/resumo/LEIA-ME.md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KENIA | S2: BESS para aliviar la red</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PLAN DE TRABAJO · S2</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18</a:t>
            </a:r>
          </a:p>
        </p:txBody>
      </p:sp>
      <p:sp>
        <p:nvSpPr>
          <p:cNvPr id="11" name="Rounded Rectangle 10"/>
          <p:cNvSpPr/>
          <p:nvPr/>
        </p:nvSpPr>
        <p:spPr>
          <a:xfrm>
            <a:off x="704088"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4088" y="1755648"/>
            <a:ext cx="3529584" cy="100584"/>
          </a:xfrm>
          <a:prstGeom prst="rect">
            <a:avLst/>
          </a:prstGeom>
          <a:solidFill>
            <a:srgbClr val="665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1993392"/>
            <a:ext cx="3054096" cy="429768"/>
          </a:xfrm>
          <a:prstGeom prst="rect">
            <a:avLst/>
          </a:prstGeom>
          <a:noFill/>
        </p:spPr>
        <p:txBody>
          <a:bodyPr wrap="square" lIns="0" tIns="18288" rIns="0" bIns="18288" anchor="ctr">
            <a:spAutoFit/>
          </a:bodyPr>
          <a:lstStyle/>
          <a:p>
            <a:pPr>
              <a:spcAft>
                <a:spcPts val="0"/>
              </a:spcAft>
              <a:defRPr sz="1900" b="1" i="0">
                <a:solidFill>
                  <a:srgbClr val="665EC5"/>
                </a:solidFill>
                <a:latin typeface="Aptos"/>
              </a:defRPr>
            </a:pPr>
            <a:r>
              <a:t>01 · DIAGNÓSTICO</a:t>
            </a:r>
          </a:p>
        </p:txBody>
      </p:sp>
      <p:sp>
        <p:nvSpPr>
          <p:cNvPr id="14" name="TextBox 13"/>
          <p:cNvSpPr txBox="1"/>
          <p:nvPr/>
        </p:nvSpPr>
        <p:spPr>
          <a:xfrm>
            <a:off x="914400"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DÓNDE ACTUAR</a:t>
            </a:r>
          </a:p>
        </p:txBody>
      </p:sp>
      <p:sp>
        <p:nvSpPr>
          <p:cNvPr id="15" name="TextBox 14"/>
          <p:cNvSpPr txBox="1"/>
          <p:nvPr/>
        </p:nvSpPr>
        <p:spPr>
          <a:xfrm>
            <a:off x="923544"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rPr/>
              <a:t>Localizar líneas sobrecargadas, barras de baja tensión y horarios críticos del escenario S1.</a:t>
            </a:r>
          </a:p>
        </p:txBody>
      </p:sp>
      <p:sp>
        <p:nvSpPr>
          <p:cNvPr id="16" name="Rounded Rectangle 15"/>
          <p:cNvSpPr/>
          <p:nvPr/>
        </p:nvSpPr>
        <p:spPr>
          <a:xfrm>
            <a:off x="4507992"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07992" y="1755648"/>
            <a:ext cx="3529584" cy="100584"/>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27448" y="1993392"/>
            <a:ext cx="3054096" cy="429768"/>
          </a:xfrm>
          <a:prstGeom prst="rect">
            <a:avLst/>
          </a:prstGeom>
          <a:noFill/>
        </p:spPr>
        <p:txBody>
          <a:bodyPr wrap="square" lIns="0" tIns="18288" rIns="0" bIns="18288" anchor="ctr">
            <a:spAutoFit/>
          </a:bodyPr>
          <a:lstStyle/>
          <a:p>
            <a:pPr>
              <a:spcAft>
                <a:spcPts val="0"/>
              </a:spcAft>
              <a:defRPr sz="1900" b="1" i="0">
                <a:solidFill>
                  <a:srgbClr val="2483BC"/>
                </a:solidFill>
                <a:latin typeface="Aptos"/>
              </a:defRPr>
            </a:pPr>
            <a:r>
              <a:t>02 · DISEÑO</a:t>
            </a:r>
          </a:p>
        </p:txBody>
      </p:sp>
      <p:sp>
        <p:nvSpPr>
          <p:cNvPr id="19" name="TextBox 18"/>
          <p:cNvSpPr txBox="1"/>
          <p:nvPr/>
        </p:nvSpPr>
        <p:spPr>
          <a:xfrm>
            <a:off x="4718304"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DIMENSIONAR</a:t>
            </a:r>
          </a:p>
        </p:txBody>
      </p:sp>
      <p:sp>
        <p:nvSpPr>
          <p:cNvPr id="20" name="TextBox 19"/>
          <p:cNvSpPr txBox="1"/>
          <p:nvPr/>
        </p:nvSpPr>
        <p:spPr>
          <a:xfrm>
            <a:off x="4727448"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t>Partir de 40 kW / 120 kWh solo como ejemplo. Definir barra, kW, kWh, SOC y eficiencia.</a:t>
            </a:r>
          </a:p>
        </p:txBody>
      </p:sp>
      <p:sp>
        <p:nvSpPr>
          <p:cNvPr id="21" name="Rounded Rectangle 20"/>
          <p:cNvSpPr/>
          <p:nvPr/>
        </p:nvSpPr>
        <p:spPr>
          <a:xfrm>
            <a:off x="8311896"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311896" y="1755648"/>
            <a:ext cx="3529584" cy="100584"/>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31352" y="1993392"/>
            <a:ext cx="3054096" cy="429768"/>
          </a:xfrm>
          <a:prstGeom prst="rect">
            <a:avLst/>
          </a:prstGeom>
          <a:noFill/>
        </p:spPr>
        <p:txBody>
          <a:bodyPr wrap="square" lIns="0" tIns="18288" rIns="0" bIns="18288" anchor="ctr">
            <a:spAutoFit/>
          </a:bodyPr>
          <a:lstStyle/>
          <a:p>
            <a:pPr>
              <a:spcAft>
                <a:spcPts val="0"/>
              </a:spcAft>
              <a:defRPr sz="1900" b="1" i="0">
                <a:solidFill>
                  <a:srgbClr val="00A89B"/>
                </a:solidFill>
                <a:latin typeface="Aptos"/>
              </a:defRPr>
            </a:pPr>
            <a:r>
              <a:t>03 · CONTROL</a:t>
            </a:r>
          </a:p>
        </p:txBody>
      </p:sp>
      <p:sp>
        <p:nvSpPr>
          <p:cNvPr id="24" name="TextBox 23"/>
          <p:cNvSpPr txBox="1"/>
          <p:nvPr/>
        </p:nvSpPr>
        <p:spPr>
          <a:xfrm>
            <a:off x="8522208"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VALIDAR S2</a:t>
            </a:r>
          </a:p>
        </p:txBody>
      </p:sp>
      <p:sp>
        <p:nvSpPr>
          <p:cNvPr id="25" name="TextBox 24"/>
          <p:cNvSpPr txBox="1"/>
          <p:nvPr/>
        </p:nvSpPr>
        <p:spPr>
          <a:xfrm>
            <a:off x="8531352"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rPr/>
              <a:t>Descargar en picos y recargar fuera de ellos. Simular S1 + BESS sin generar nuevas sobrecargas.</a:t>
            </a:r>
          </a:p>
        </p:txBody>
      </p:sp>
      <p:sp>
        <p:nvSpPr>
          <p:cNvPr id="26" name="Rounded Rectangle 25"/>
          <p:cNvSpPr/>
          <p:nvPr/>
        </p:nvSpPr>
        <p:spPr>
          <a:xfrm>
            <a:off x="713232" y="5029200"/>
            <a:ext cx="10698480" cy="740664"/>
          </a:xfrm>
          <a:prstGeom prst="roundRect">
            <a:avLst>
              <a:gd name="adj" fmla="val 10000"/>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5120640"/>
            <a:ext cx="10314432" cy="530352"/>
          </a:xfrm>
          <a:prstGeom prst="rect">
            <a:avLst/>
          </a:prstGeom>
          <a:noFill/>
        </p:spPr>
        <p:txBody>
          <a:bodyPr wrap="square" lIns="0" tIns="18288" rIns="0" bIns="18288" anchor="ctr">
            <a:spAutoFit/>
          </a:bodyPr>
          <a:lstStyle/>
          <a:p>
            <a:pPr algn="ctr">
              <a:spcAft>
                <a:spcPts val="0"/>
              </a:spcAft>
              <a:defRPr sz="1800" b="1" i="0">
                <a:solidFill>
                  <a:srgbClr val="FFFFFF"/>
                </a:solidFill>
                <a:latin typeface="Aptos"/>
              </a:defRPr>
            </a:pPr>
            <a:r>
              <a:t>ENTREGABLE: UBICACIÓN + TAMAÑO + PERFIL BESS + COMPARACIÓN S2 vs. S1</a:t>
            </a:r>
          </a:p>
        </p:txBody>
      </p:sp>
      <p:sp>
        <p:nvSpPr>
          <p:cNvPr id="28" name="TextBox 27"/>
          <p:cNvSpPr txBox="1"/>
          <p:nvPr/>
        </p:nvSpPr>
        <p:spPr>
          <a:xfrm>
            <a:off x="832104" y="5934456"/>
            <a:ext cx="10698480" cy="283464"/>
          </a:xfrm>
          <a:prstGeom prst="rect">
            <a:avLst/>
          </a:prstGeom>
          <a:noFill/>
        </p:spPr>
        <p:txBody>
          <a:bodyPr wrap="square" lIns="0" tIns="18288" rIns="0" bIns="18288" anchor="ctr">
            <a:spAutoFit/>
          </a:bodyPr>
          <a:lstStyle/>
          <a:p>
            <a:pPr>
              <a:spcAft>
                <a:spcPts val="0"/>
              </a:spcAft>
              <a:defRPr sz="1280" b="1" i="0">
                <a:solidFill>
                  <a:srgbClr val="00A89B"/>
                </a:solidFill>
                <a:latin typeface="Consolas"/>
              </a:defRPr>
            </a:pPr>
            <a:r>
              <a:t>MEDIR: carga de líneas, tensión mínima, pérdidas, pico de demanda y SOC final.</a:t>
            </a:r>
          </a:p>
        </p:txBody>
      </p:sp>
      <p:sp>
        <p:nvSpPr>
          <p:cNvPr id="29" name="Rectangle 28"/>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docs/S2_BESS_Kenia.md  ·  configs/bess.yaml  ·  src/bess/  ·  src/integration/coordinator.py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84632" y="448056"/>
            <a:ext cx="64008" cy="18288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7680960" cy="329184"/>
          </a:xfrm>
          <a:prstGeom prst="rect">
            <a:avLst/>
          </a:prstGeom>
          <a:noFill/>
        </p:spPr>
        <p:txBody>
          <a:bodyPr wrap="square" lIns="0" tIns="18288" rIns="0" bIns="18288" anchor="ctr">
            <a:spAutoFit/>
          </a:bodyPr>
          <a:lstStyle/>
          <a:p>
            <a:pPr>
              <a:spcAft>
                <a:spcPts val="0"/>
              </a:spcAft>
              <a:defRPr sz="1100" b="1" i="0">
                <a:solidFill>
                  <a:srgbClr val="00A89B"/>
                </a:solidFill>
                <a:latin typeface="Aptos"/>
              </a:defRPr>
            </a:pPr>
            <a:r>
              <a:t>INVESTIGACIÓN MODULAR</a:t>
            </a:r>
          </a:p>
        </p:txBody>
      </p:sp>
      <p:sp>
        <p:nvSpPr>
          <p:cNvPr id="6" name="TextBox 5"/>
          <p:cNvSpPr txBox="1"/>
          <p:nvPr/>
        </p:nvSpPr>
        <p:spPr>
          <a:xfrm>
            <a:off x="612648" y="749808"/>
            <a:ext cx="10561320" cy="603504"/>
          </a:xfrm>
          <a:prstGeom prst="rect">
            <a:avLst/>
          </a:prstGeom>
          <a:noFill/>
        </p:spPr>
        <p:txBody>
          <a:bodyPr wrap="square" lIns="0" tIns="18288" rIns="0" bIns="18288" anchor="ctr">
            <a:spAutoFit/>
          </a:bodyPr>
          <a:lstStyle/>
          <a:p>
            <a:pPr>
              <a:spcAft>
                <a:spcPts val="0"/>
              </a:spcAft>
              <a:defRPr sz="2900" b="1" i="0">
                <a:solidFill>
                  <a:srgbClr val="0A1428"/>
                </a:solidFill>
                <a:latin typeface="Aptos"/>
              </a:defRPr>
            </a:pPr>
            <a:r>
              <a:t>CESAR | S3: V2G para mitigar la recarga</a:t>
            </a:r>
          </a:p>
        </p:txBody>
      </p:sp>
      <p:sp>
        <p:nvSpPr>
          <p:cNvPr id="7" name="Rounded Rectangle 6"/>
          <p:cNvSpPr/>
          <p:nvPr/>
        </p:nvSpPr>
        <p:spPr>
          <a:xfrm>
            <a:off x="10158984" y="356616"/>
            <a:ext cx="1453896" cy="320040"/>
          </a:xfrm>
          <a:prstGeom prst="roundRect">
            <a:avLst>
              <a:gd name="adj" fmla="val 10000"/>
            </a:avLst>
          </a:prstGeom>
          <a:solidFill>
            <a:srgbClr val="ED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65760"/>
            <a:ext cx="1408176" cy="283464"/>
          </a:xfrm>
          <a:prstGeom prst="rect">
            <a:avLst/>
          </a:prstGeom>
          <a:noFill/>
        </p:spPr>
        <p:txBody>
          <a:bodyPr wrap="square" lIns="0" tIns="18288" rIns="0" bIns="18288" anchor="ctr">
            <a:spAutoFit/>
          </a:bodyPr>
          <a:lstStyle/>
          <a:p>
            <a:pPr algn="ctr">
              <a:spcAft>
                <a:spcPts val="0"/>
              </a:spcAft>
              <a:defRPr sz="1000" b="1" i="0">
                <a:solidFill>
                  <a:srgbClr val="2483BC"/>
                </a:solidFill>
                <a:latin typeface="Aptos"/>
              </a:defRPr>
            </a:pPr>
            <a:r>
              <a:t>PLAN DE TRABAJO · S3</a:t>
            </a:r>
          </a:p>
        </p:txBody>
      </p:sp>
      <p:sp>
        <p:nvSpPr>
          <p:cNvPr id="9" name="Rectangle 8"/>
          <p:cNvSpPr/>
          <p:nvPr/>
        </p:nvSpPr>
        <p:spPr>
          <a:xfrm>
            <a:off x="621792" y="1417320"/>
            <a:ext cx="10954512" cy="12801"/>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091672" y="6519672"/>
            <a:ext cx="457200" cy="201168"/>
          </a:xfrm>
          <a:prstGeom prst="rect">
            <a:avLst/>
          </a:prstGeom>
          <a:noFill/>
        </p:spPr>
        <p:txBody>
          <a:bodyPr wrap="square" lIns="0" tIns="18288" rIns="0" bIns="18288" anchor="ctr">
            <a:spAutoFit/>
          </a:bodyPr>
          <a:lstStyle/>
          <a:p>
            <a:pPr algn="r">
              <a:spcAft>
                <a:spcPts val="0"/>
              </a:spcAft>
              <a:defRPr sz="1000" b="1" i="0">
                <a:solidFill>
                  <a:srgbClr val="899BAE"/>
                </a:solidFill>
                <a:latin typeface="Aptos"/>
              </a:defRPr>
            </a:pPr>
            <a:r>
              <a:t>19</a:t>
            </a:r>
          </a:p>
        </p:txBody>
      </p:sp>
      <p:sp>
        <p:nvSpPr>
          <p:cNvPr id="11" name="Rounded Rectangle 10"/>
          <p:cNvSpPr/>
          <p:nvPr/>
        </p:nvSpPr>
        <p:spPr>
          <a:xfrm>
            <a:off x="704088"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4088" y="1755648"/>
            <a:ext cx="3529584" cy="100584"/>
          </a:xfrm>
          <a:prstGeom prst="rect">
            <a:avLst/>
          </a:prstGeom>
          <a:solidFill>
            <a:srgbClr val="665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1993392"/>
            <a:ext cx="3054096" cy="429768"/>
          </a:xfrm>
          <a:prstGeom prst="rect">
            <a:avLst/>
          </a:prstGeom>
          <a:noFill/>
        </p:spPr>
        <p:txBody>
          <a:bodyPr wrap="square" lIns="0" tIns="18288" rIns="0" bIns="18288" anchor="ctr">
            <a:spAutoFit/>
          </a:bodyPr>
          <a:lstStyle/>
          <a:p>
            <a:pPr>
              <a:spcAft>
                <a:spcPts val="0"/>
              </a:spcAft>
              <a:defRPr sz="1900" b="1" i="0">
                <a:solidFill>
                  <a:srgbClr val="665EC5"/>
                </a:solidFill>
                <a:latin typeface="Aptos"/>
              </a:defRPr>
            </a:pPr>
            <a:r>
              <a:t>01 · FLOTA</a:t>
            </a:r>
          </a:p>
        </p:txBody>
      </p:sp>
      <p:sp>
        <p:nvSpPr>
          <p:cNvPr id="14" name="TextBox 13"/>
          <p:cNvSpPr txBox="1"/>
          <p:nvPr/>
        </p:nvSpPr>
        <p:spPr>
          <a:xfrm>
            <a:off x="914400"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DISPONIBILIDAD</a:t>
            </a:r>
          </a:p>
        </p:txBody>
      </p:sp>
      <p:sp>
        <p:nvSpPr>
          <p:cNvPr id="15" name="TextBox 14"/>
          <p:cNvSpPr txBox="1"/>
          <p:nvPr/>
        </p:nvSpPr>
        <p:spPr>
          <a:xfrm>
            <a:off x="923544"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rPr/>
              <a:t>Ampliar los 3 VE de prueba. Modelar participación, horarios de conexión y recargas atendidas.</a:t>
            </a:r>
          </a:p>
        </p:txBody>
      </p:sp>
      <p:sp>
        <p:nvSpPr>
          <p:cNvPr id="16" name="Rounded Rectangle 15"/>
          <p:cNvSpPr/>
          <p:nvPr/>
        </p:nvSpPr>
        <p:spPr>
          <a:xfrm>
            <a:off x="4507992"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07992" y="1755648"/>
            <a:ext cx="3529584" cy="100584"/>
          </a:xfrm>
          <a:prstGeom prst="rect">
            <a:avLst/>
          </a:prstGeom>
          <a:solidFill>
            <a:srgbClr val="248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27448" y="1993392"/>
            <a:ext cx="3054096" cy="429768"/>
          </a:xfrm>
          <a:prstGeom prst="rect">
            <a:avLst/>
          </a:prstGeom>
          <a:noFill/>
        </p:spPr>
        <p:txBody>
          <a:bodyPr wrap="square" lIns="0" tIns="18288" rIns="0" bIns="18288" anchor="ctr">
            <a:spAutoFit/>
          </a:bodyPr>
          <a:lstStyle/>
          <a:p>
            <a:pPr>
              <a:spcAft>
                <a:spcPts val="0"/>
              </a:spcAft>
              <a:defRPr sz="1900" b="1" i="0">
                <a:solidFill>
                  <a:srgbClr val="2483BC"/>
                </a:solidFill>
                <a:latin typeface="Aptos"/>
              </a:defRPr>
            </a:pPr>
            <a:r>
              <a:t>02 · RESTRICCIONES</a:t>
            </a:r>
          </a:p>
        </p:txBody>
      </p:sp>
      <p:sp>
        <p:nvSpPr>
          <p:cNvPr id="19" name="TextBox 18"/>
          <p:cNvSpPr txBox="1"/>
          <p:nvPr/>
        </p:nvSpPr>
        <p:spPr>
          <a:xfrm>
            <a:off x="4718304"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PROTEGER AL VE</a:t>
            </a:r>
          </a:p>
        </p:txBody>
      </p:sp>
      <p:sp>
        <p:nvSpPr>
          <p:cNvPr id="20" name="TextBox 19"/>
          <p:cNvSpPr txBox="1"/>
          <p:nvPr/>
        </p:nvSpPr>
        <p:spPr>
          <a:xfrm>
            <a:off x="4727448"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rPr/>
              <a:t>Definir SOC mínimo, reserva para viajes, potencia de descarga y cargadores bidireccionales.</a:t>
            </a:r>
          </a:p>
        </p:txBody>
      </p:sp>
      <p:sp>
        <p:nvSpPr>
          <p:cNvPr id="21" name="Rounded Rectangle 20"/>
          <p:cNvSpPr/>
          <p:nvPr/>
        </p:nvSpPr>
        <p:spPr>
          <a:xfrm>
            <a:off x="8311896" y="1755648"/>
            <a:ext cx="3529584" cy="3008376"/>
          </a:xfrm>
          <a:prstGeom prst="roundRect">
            <a:avLst>
              <a:gd name="adj" fmla="val 10000"/>
            </a:avLst>
          </a:prstGeom>
          <a:solidFill>
            <a:srgbClr val="FFFFFF"/>
          </a:solidFill>
          <a:ln w="12700">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311896" y="1755648"/>
            <a:ext cx="3529584" cy="100584"/>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31352" y="1993392"/>
            <a:ext cx="3054096" cy="429768"/>
          </a:xfrm>
          <a:prstGeom prst="rect">
            <a:avLst/>
          </a:prstGeom>
          <a:noFill/>
        </p:spPr>
        <p:txBody>
          <a:bodyPr wrap="square" lIns="0" tIns="18288" rIns="0" bIns="18288" anchor="ctr">
            <a:spAutoFit/>
          </a:bodyPr>
          <a:lstStyle/>
          <a:p>
            <a:pPr>
              <a:spcAft>
                <a:spcPts val="0"/>
              </a:spcAft>
              <a:defRPr sz="1900" b="1" i="0">
                <a:solidFill>
                  <a:srgbClr val="00A89B"/>
                </a:solidFill>
                <a:latin typeface="Aptos"/>
              </a:defRPr>
            </a:pPr>
            <a:r>
              <a:t>03 · CONTROL</a:t>
            </a:r>
          </a:p>
        </p:txBody>
      </p:sp>
      <p:sp>
        <p:nvSpPr>
          <p:cNvPr id="24" name="TextBox 23"/>
          <p:cNvSpPr txBox="1"/>
          <p:nvPr/>
        </p:nvSpPr>
        <p:spPr>
          <a:xfrm>
            <a:off x="8522208" y="2496312"/>
            <a:ext cx="3099816" cy="411480"/>
          </a:xfrm>
          <a:prstGeom prst="rect">
            <a:avLst/>
          </a:prstGeom>
          <a:noFill/>
        </p:spPr>
        <p:txBody>
          <a:bodyPr wrap="square" lIns="0" tIns="18288" rIns="0" bIns="18288" anchor="ctr">
            <a:spAutoFit/>
          </a:bodyPr>
          <a:lstStyle/>
          <a:p>
            <a:pPr>
              <a:spcAft>
                <a:spcPts val="0"/>
              </a:spcAft>
              <a:defRPr sz="2400" b="1" i="0">
                <a:solidFill>
                  <a:srgbClr val="0A1428"/>
                </a:solidFill>
                <a:latin typeface="Aptos"/>
              </a:defRPr>
            </a:pPr>
            <a:r>
              <a:t>VALIDAR S3</a:t>
            </a:r>
          </a:p>
        </p:txBody>
      </p:sp>
      <p:sp>
        <p:nvSpPr>
          <p:cNvPr id="25" name="TextBox 24"/>
          <p:cNvSpPr txBox="1"/>
          <p:nvPr/>
        </p:nvSpPr>
        <p:spPr>
          <a:xfrm>
            <a:off x="8531352" y="3172968"/>
            <a:ext cx="3063240" cy="1280160"/>
          </a:xfrm>
          <a:prstGeom prst="rect">
            <a:avLst/>
          </a:prstGeom>
          <a:noFill/>
        </p:spPr>
        <p:txBody>
          <a:bodyPr wrap="square" lIns="0" tIns="18288" rIns="0" bIns="18288" anchor="t">
            <a:spAutoFit/>
          </a:bodyPr>
          <a:lstStyle/>
          <a:p>
            <a:pPr>
              <a:spcAft>
                <a:spcPts val="0"/>
              </a:spcAft>
              <a:defRPr sz="1800" b="0" i="0">
                <a:solidFill>
                  <a:srgbClr val="536276"/>
                </a:solidFill>
                <a:latin typeface="Aptos"/>
              </a:defRPr>
            </a:pPr>
            <a:r>
              <a:rPr/>
              <a:t>Inyectar en horarios críticos y recuperar energía después. Simular S1 + V2G respetando movilidad.</a:t>
            </a:r>
          </a:p>
        </p:txBody>
      </p:sp>
      <p:sp>
        <p:nvSpPr>
          <p:cNvPr id="26" name="Rounded Rectangle 25"/>
          <p:cNvSpPr/>
          <p:nvPr/>
        </p:nvSpPr>
        <p:spPr>
          <a:xfrm>
            <a:off x="713232" y="5029200"/>
            <a:ext cx="10698480" cy="740664"/>
          </a:xfrm>
          <a:prstGeom prst="roundRect">
            <a:avLst>
              <a:gd name="adj" fmla="val 10000"/>
            </a:avLst>
          </a:prstGeom>
          <a:solidFill>
            <a:srgbClr val="0A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5120640"/>
            <a:ext cx="10314432" cy="530352"/>
          </a:xfrm>
          <a:prstGeom prst="rect">
            <a:avLst/>
          </a:prstGeom>
          <a:noFill/>
        </p:spPr>
        <p:txBody>
          <a:bodyPr wrap="square" lIns="0" tIns="18288" rIns="0" bIns="18288" anchor="ctr">
            <a:spAutoFit/>
          </a:bodyPr>
          <a:lstStyle/>
          <a:p>
            <a:pPr algn="ctr">
              <a:spcAft>
                <a:spcPts val="0"/>
              </a:spcAft>
              <a:defRPr sz="1800" b="1" i="0">
                <a:solidFill>
                  <a:srgbClr val="FFFFFF"/>
                </a:solidFill>
                <a:latin typeface="Aptos"/>
              </a:defRPr>
            </a:pPr>
            <a:r>
              <a:t>ENTREGABLE: PERFIL V2G + SUPUESTOS DE FLOTA + COMPARACIÓN S3 vs. S1</a:t>
            </a:r>
          </a:p>
        </p:txBody>
      </p:sp>
      <p:sp>
        <p:nvSpPr>
          <p:cNvPr id="28" name="TextBox 27"/>
          <p:cNvSpPr txBox="1"/>
          <p:nvPr/>
        </p:nvSpPr>
        <p:spPr>
          <a:xfrm>
            <a:off x="832104" y="5934456"/>
            <a:ext cx="10698480" cy="283464"/>
          </a:xfrm>
          <a:prstGeom prst="rect">
            <a:avLst/>
          </a:prstGeom>
          <a:noFill/>
        </p:spPr>
        <p:txBody>
          <a:bodyPr wrap="square" lIns="0" tIns="18288" rIns="0" bIns="18288" anchor="ctr">
            <a:spAutoFit/>
          </a:bodyPr>
          <a:lstStyle/>
          <a:p>
            <a:pPr>
              <a:spcAft>
                <a:spcPts val="0"/>
              </a:spcAft>
              <a:defRPr sz="1280" b="1" i="0">
                <a:solidFill>
                  <a:srgbClr val="00A89B"/>
                </a:solidFill>
                <a:latin typeface="Consolas"/>
              </a:defRPr>
            </a:pPr>
            <a:r>
              <a:t>MEDIR: sobrecargas, tensión, pérdidas, pico, energía inyectada y SOC de salida.</a:t>
            </a:r>
          </a:p>
        </p:txBody>
      </p:sp>
      <p:sp>
        <p:nvSpPr>
          <p:cNvPr id="29" name="Rectangle 28"/>
          <p:cNvSpPr/>
          <p:nvPr/>
        </p:nvSpPr>
        <p:spPr>
          <a:xfrm>
            <a:off x="612648" y="6419088"/>
            <a:ext cx="10899648" cy="10972"/>
          </a:xfrm>
          <a:prstGeom prst="rect">
            <a:avLst/>
          </a:prstGeom>
          <a:solidFill>
            <a:srgbClr val="DCE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6483096"/>
            <a:ext cx="10268712" cy="292608"/>
          </a:xfrm>
          <a:prstGeom prst="rect">
            <a:avLst/>
          </a:prstGeom>
          <a:noFill/>
        </p:spPr>
        <p:txBody>
          <a:bodyPr wrap="square" lIns="0" tIns="18288" rIns="0" bIns="18288" anchor="ctr">
            <a:spAutoFit/>
          </a:bodyPr>
          <a:lstStyle/>
          <a:p>
            <a:pPr>
              <a:spcAft>
                <a:spcPts val="0"/>
              </a:spcAft>
              <a:defRPr sz="880" b="0" i="0">
                <a:solidFill>
                  <a:srgbClr val="536276"/>
                </a:solidFill>
                <a:latin typeface="Aptos"/>
              </a:defRPr>
            </a:pPr>
            <a:r>
              <a:t>FUENTES  docs/S3_V2G_Cesar.md  ·  configs/v2g.yaml  ·  src/v2g/  ·  src/integration/coordinator.py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3349</Words>
  <Application>Microsoft Office PowerPoint</Application>
  <PresentationFormat>Widescreen</PresentationFormat>
  <Paragraphs>309</Paragraphs>
  <Slides>18</Slides>
  <Notes>18</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18</vt:i4>
      </vt:variant>
    </vt:vector>
  </HeadingPairs>
  <TitlesOfParts>
    <vt:vector size="21" baseType="lpstr">
      <vt:lpstr>Arial</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lastModifiedBy>
  <cp:revision>2</cp:revision>
  <dcterms:created xsi:type="dcterms:W3CDTF">2013-01-27T09:14:16Z</dcterms:created>
  <dcterms:modified xsi:type="dcterms:W3CDTF">2026-10-13T01:36:24Z</dcterms:modified>
  <cp:category/>
</cp:coreProperties>
</file>